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3199996924480e" /><Relationship Type="http://schemas.openxmlformats.org/officeDocument/2006/relationships/extended-properties" Target="/docProps/app.xml" Id="Rc72fb2a8e04a4a28" /><Relationship Type="http://schemas.openxmlformats.org/officeDocument/2006/relationships/officeDocument" Target="/ppt/presentation.xml" Id="R78009c8da5464fef" /></Relationships>
</file>

<file path=ppt/presentation.xml><?xml version="1.0" encoding="utf-8"?>
<p:presentation xmlns:p="http://schemas.openxmlformats.org/presentationml/2006/main">
  <p:sldMasterIdLst>
    <p:sldMasterId xmlns:r="http://schemas.openxmlformats.org/officeDocument/2006/relationships" id="2147483648" r:id="R8ca0deebbda3436d"/>
  </p:sldMasterIdLst>
  <p:notesMasterIdLst>
    <p:notesMasterId xmlns:r="http://schemas.openxmlformats.org/officeDocument/2006/relationships" r:id="R2bdaa6e8d5454cdc"/>
  </p:notesMasterIdLst>
  <p:sldIdLst>
    <p:sldId xmlns:r="http://schemas.openxmlformats.org/officeDocument/2006/relationships" id="256" r:id="Raa040adbecb64c8b"/>
    <p:sldId xmlns:r="http://schemas.openxmlformats.org/officeDocument/2006/relationships" id="257" r:id="Rdd7b9a347c5b4e21"/>
    <p:sldId xmlns:r="http://schemas.openxmlformats.org/officeDocument/2006/relationships" id="258" r:id="R0e9cab061f9648ae"/>
    <p:sldId xmlns:r="http://schemas.openxmlformats.org/officeDocument/2006/relationships" id="259" r:id="R28ebf15047894d08"/>
    <p:sldId xmlns:r="http://schemas.openxmlformats.org/officeDocument/2006/relationships" id="260" r:id="Rc2e06357ecee46cb"/>
    <p:sldId xmlns:r="http://schemas.openxmlformats.org/officeDocument/2006/relationships" id="261" r:id="Rcaddc44b85374020"/>
    <p:sldId xmlns:r="http://schemas.openxmlformats.org/officeDocument/2006/relationships" id="262" r:id="R567ab4779bd544d0"/>
    <p:sldId xmlns:r="http://schemas.openxmlformats.org/officeDocument/2006/relationships" id="263" r:id="R0c997fc7f0da42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aea6e6117a4cf6" /><Relationship Type="http://schemas.openxmlformats.org/officeDocument/2006/relationships/slideMaster" Target="/ppt/slideMasters/slideMaster1.xml" Id="R8ca0deebbda3436d" /><Relationship Type="http://schemas.openxmlformats.org/officeDocument/2006/relationships/notesMaster" Target="/ppt/notesMasters/notesMaster1.xml" Id="R2bdaa6e8d5454cdc" /><Relationship Type="http://schemas.openxmlformats.org/officeDocument/2006/relationships/presProps" Target="/ppt/presProps.xml" Id="R109c87197d4a4edf" /><Relationship Type="http://schemas.openxmlformats.org/officeDocument/2006/relationships/tableStyles" Target="/ppt/tableStyles.xml" Id="R0712326a8f20484f" /><Relationship Type="http://schemas.openxmlformats.org/officeDocument/2006/relationships/slide" Target="/ppt/slides/slide1.xml" Id="Raa040adbecb64c8b" /><Relationship Type="http://schemas.openxmlformats.org/officeDocument/2006/relationships/slide" Target="/ppt/slides/slide2.xml" Id="Rdd7b9a347c5b4e21" /><Relationship Type="http://schemas.openxmlformats.org/officeDocument/2006/relationships/slide" Target="/ppt/slides/slide3.xml" Id="R0e9cab061f9648ae" /><Relationship Type="http://schemas.openxmlformats.org/officeDocument/2006/relationships/slide" Target="/ppt/slides/slide4.xml" Id="R28ebf15047894d08" /><Relationship Type="http://schemas.openxmlformats.org/officeDocument/2006/relationships/slide" Target="/ppt/slides/slide5.xml" Id="Rc2e06357ecee46cb" /><Relationship Type="http://schemas.openxmlformats.org/officeDocument/2006/relationships/slide" Target="/ppt/slides/slide6.xml" Id="Rcaddc44b85374020" /><Relationship Type="http://schemas.openxmlformats.org/officeDocument/2006/relationships/slide" Target="/ppt/slides/slide7.xml" Id="R567ab4779bd544d0" /><Relationship Type="http://schemas.openxmlformats.org/officeDocument/2006/relationships/slide" Target="/ppt/slides/slide8.xml" Id="R0c997fc7f0da42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9b25283bce4d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6741a473fe47ee" /><Relationship Type="http://schemas.openxmlformats.org/officeDocument/2006/relationships/notesMaster" Target="/ppt/notesMasters/notesMaster1.xml" Id="R121b6cf59dab4e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871c328e90415d" /><Relationship Type="http://schemas.openxmlformats.org/officeDocument/2006/relationships/notesMaster" Target="/ppt/notesMasters/notesMaster1.xml" Id="Rf5e8eca3dcce4e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28bb46d0684b51" /><Relationship Type="http://schemas.openxmlformats.org/officeDocument/2006/relationships/notesMaster" Target="/ppt/notesMasters/notesMaster1.xml" Id="R7886aead26d54d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dde8223edc4a3e" /><Relationship Type="http://schemas.openxmlformats.org/officeDocument/2006/relationships/notesMaster" Target="/ppt/notesMasters/notesMaster1.xml" Id="Redf5fa4f0ce348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f2970d715b4fe9" /><Relationship Type="http://schemas.openxmlformats.org/officeDocument/2006/relationships/notesMaster" Target="/ppt/notesMasters/notesMaster1.xml" Id="Rfad048b91e1049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3c5ff307974e62" /><Relationship Type="http://schemas.openxmlformats.org/officeDocument/2006/relationships/notesMaster" Target="/ppt/notesMasters/notesMaster1.xml" Id="R567ad70521344b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08dc268f9d47a1" /><Relationship Type="http://schemas.openxmlformats.org/officeDocument/2006/relationships/notesMaster" Target="/ppt/notesMasters/notesMaster1.xml" Id="R55adbdeacd8848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3ba2f685154891" /><Relationship Type="http://schemas.openxmlformats.org/officeDocument/2006/relationships/notesMaster" Target="/ppt/notesMasters/notesMaster1.xml" Id="R0d29665205664b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Fairtix lets organizers set a ticket resale cap. Sources: https://github.com/rmazz05/fairtix/blob/0175ebf9f62bee79187c1c6dc2ff0de716cc455c/chain/programs/fairtix_market/src/lib.rs; https://github.com/rmazz05/fairtix/blob/0175ebf9f62bee79187c1c6dc2ff0de716cc455c/chain/programs/fairtix_hook/src/lib.rs.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transferable ticket can change hands after payment elsewhere. Illustrative scenario: €25 original price, €60 resale asking price.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marketplace's create_event instruction records face_price and cap_bps in an Event PDA. The MVP permits a cap from 0% to 25% above face price. The demo uses 10%, so €25.00 × 1.10 = €27.50. The list instruction rejects amounts above event.max_price before depositing a ticket into escrow. https://github.com/rmazz05/fairtix/blob/0175ebf9f62bee79187c1c6dc2ff0de716cc455c/chain/programs/fairtix_market/src/lib.rs#L54; https://github.com/rmazz05/fairtix/blob/0175ebf9f62bee79187c1c6dc2ff0de716cc455c/chain/programs/fairtix_market/src/lib.rs#L221. These are test credits displayed as euros, not euro payments.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Token-2022 invokes the transfer hook for each transfer. Fairtix's execute checks the transfer-active flag, mint and account owners, and permits only a valid Listing PDA's escrow deposit or release. The marketplace's program signature controls release on a resale or cancellation. A different frontend can invoke the same public program and must obey its rules. https://solana.com/docs/tokens/extensions/transfer-hook; https://github.com/rmazz05/fairtix/blob/0175ebf9f62bee79187c1c6dc2ff0de716cc455c/chain/programs/fairtix_hook/src/lib.rs#L67; https://github.com/rmazz05/fairtix/blob/0175ebf9f62bee79187c1c6dc2ff0de716cc455c/chain/programs/fairtix_hook/src/lib.rs#L131. Direct-transfer test: https://explorer.solana.com/tx/33GCbYNPFE7EBGggbLqErzKvDja1mKzhwW3H9E3dP9PbQdiUucWDdHvkiNRHNyFmbzFKSinaWBWZa6onXeVMBQUU?cluster=devnet. Associated ticket accounts use ImmutableOwner, which the chain suite verifies. https://solana.com/docs/tokens/extensions/immutable-owner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completed resale uses the buy_resale instruction. It transfers payment to the seller, organizer and treasury, delivers the escrowed ticket, closes escrow, and updates counters in one transaction. https://github.com/rmazz05/fairtix/blob/0175ebf9f62bee79187c1c6dc2ff0de716cc455c/chain/programs/fairtix_market/src/lib.rs#L285. Solana reverses all state changes if any instruction fails, but network transaction fees remain charged: https://solana.com/docs/core/transactions. For €27.50 and a 5% royalty, integer-cent arithmetic gives €1.37 to the organizer, €0.55 (2%) to Fairtix and €25.58 to the seller. 25.58 + 1.37 + 0.55 = 27.50. This payment is a test-credit token. Primary sales charge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docs/screenshots/public-devnet-over-cap.jpg. Solana devnet transactions, using test credits: €60 above-cap listing https://explorer.solana.com/tx/2iXm5UigJ2JhgtFj8yDqRdpwgQGuDVEGxVgZW52y2Hds9vF3jhjQh3C5neMySk6dX7r9odjrbaGSTC66Qypxpcwu?cluster=devnet; signed direct transfer https://explorer.solana.com/tx/33GCbYNPFE7EBGggbLqErzKvDja1mKzhwW3H9E3dP9PbQdiUucWDdHvkiNRHNyFmbzFKSinaWBWZa6onXeVMBQUU?cluster=devnet; successful €27.50 resale https://explorer.solana.com/tx/3FYCU8uRkaFYN1YuDtE8dA1QbjDjoguZj67NMZHvXiAzG9riQh86aZpVQMPcUwV8pRgHpceuN2WuKJfaLgSVEzQb?cluster=devnet.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custom programs are deployed on Solana devnet and use Anchor 0.32.1. Marketplace: https://explorer.solana.com/address/4NxaE691WuYMs1ScHn6jDByVW8sj6U5w5nT9EXMUaYrF?cluster=devnet; source https://github.com/rmazz05/fairtix/blob/0175ebf9f62bee79187c1c6dc2ff0de716cc455c/chain/programs/fairtix_market/src/lib.rs. Hook: https://explorer.solana.com/address/8WkPYAkswnyywHpY7VcCwVMsCgmDzMrDtLuT9ZzGyoWD?cluster=devnet; source https://github.com/rmazz05/fairtix/blob/0175ebf9f62bee79187c1c6dc2ff0de716cc455c/chain/programs/fairtix_hook/src/lib.rs. Token-2022 ticket mints use event PDA authority and the Transfer Hook extension. Associated token accounts have immutable owners. The hook validates canonical Listing PDAs owned by the marketplace. Only the marketplace can sign for listing escrow. The two-program design avoids marketplace -&gt; Token-2022 -&gt; marketplace reentrancy. ImmutableOwner prevents changing the token account's authority, not selling private keys. The upgrade authority remains active. Official docs: https://solana.com/docs/tokens/extensions/transfer-hook and https://solana.com/docs/tokens/extensions/immutable-owner.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demo: https://fairtix-whu.vercel.app/demo.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78c93be1264d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867bfe56d2249f1" /><Relationship Type="http://schemas.openxmlformats.org/officeDocument/2006/relationships/slideLayout" Target="/ppt/slideLayouts/slideLayout1.xml" Id="R110745459dcf4b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0745459dcf4b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3948a7621514e1a" /><Relationship Type="http://schemas.openxmlformats.org/officeDocument/2006/relationships/notesSlide" Target="/ppt/notesSlides/notesSlide1.xml" Id="Rfaa71a80de6c41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219c0dd4e6442c8" /><Relationship Type="http://schemas.openxmlformats.org/officeDocument/2006/relationships/notesSlide" Target="/ppt/notesSlides/notesSlide2.xml" Id="R19f74ed7a4ff4e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9a43f02ee454f8f" /><Relationship Type="http://schemas.openxmlformats.org/officeDocument/2006/relationships/notesSlide" Target="/ppt/notesSlides/notesSlide3.xml" Id="Rac079dbeb50b4b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1b4cf1d30e4421" /><Relationship Type="http://schemas.openxmlformats.org/officeDocument/2006/relationships/hyperlink" Target="https://solana.com/docs/tokens/extensions/transfer-hook" TargetMode="External" Id="Rd9b989c2fcf649a1" /><Relationship Type="http://schemas.openxmlformats.org/officeDocument/2006/relationships/notesSlide" Target="/ppt/notesSlides/notesSlide4.xml" Id="Rce4e4b278d3048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40cf3df9a9841f1" /><Relationship Type="http://schemas.openxmlformats.org/officeDocument/2006/relationships/notesSlide" Target="/ppt/notesSlides/notesSlide5.xml" Id="R4ab84b441b994e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44fb6d641c24cf4" /><Relationship Type="http://schemas.openxmlformats.org/officeDocument/2006/relationships/image" Target="/ppt/media/image.png" Id="R567568744da34289" /><Relationship Type="http://schemas.openxmlformats.org/officeDocument/2006/relationships/hyperlink" Target="https://explorer.solana.com/tx/2iXm5UigJ2JhgtFj8yDqRdpwgQGuDVEGxVgZW52y2Hds9vF3jhjQh3C5neMySk6dX7r9odjrbaGSTC66Qypxpcwu?cluster=devnet" TargetMode="External" Id="Rd5f996899be24605" /><Relationship Type="http://schemas.openxmlformats.org/officeDocument/2006/relationships/hyperlink" Target="https://explorer.solana.com/tx/33GCbYNPFE7EBGggbLqErzKvDja1mKzhwW3H9E3dP9PbQdiUucWDdHvkiNRHNyFmbzFKSinaWBWZa6onXeVMBQUU?cluster=devnet" TargetMode="External" Id="Rdf2a0b61976440b6" /><Relationship Type="http://schemas.openxmlformats.org/officeDocument/2006/relationships/hyperlink" Target="https://explorer.solana.com/tx/3FYCU8uRkaFYN1YuDtE8dA1QbjDjoguZj67NMZHvXiAzG9riQh86aZpVQMPcUwV8pRgHpceuN2WuKJfaLgSVEzQb?cluster=devnet" TargetMode="External" Id="R34135d015f0c47db" /><Relationship Type="http://schemas.openxmlformats.org/officeDocument/2006/relationships/notesSlide" Target="/ppt/notesSlides/notesSlide6.xml" Id="Rea5817b3bded45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4ada6d14af74512" /><Relationship Type="http://schemas.openxmlformats.org/officeDocument/2006/relationships/hyperlink" Target="https://explorer.solana.com/address/4NxaE691WuYMs1ScHn6jDByVW8sj6U5w5nT9EXMUaYrF?cluster=devnet" TargetMode="External" Id="R66f6fa5b56b64183" /><Relationship Type="http://schemas.openxmlformats.org/officeDocument/2006/relationships/hyperlink" Target="https://github.com/rmazz05/fairtix/blob/0175ebf9f62bee79187c1c6dc2ff0de716cc455c/chain/programs/fairtix_market/src/lib.rs" TargetMode="External" Id="R311fb7f749f74309" /><Relationship Type="http://schemas.openxmlformats.org/officeDocument/2006/relationships/hyperlink" Target="https://explorer.solana.com/address/8WkPYAkswnyywHpY7VcCwVMsCgmDzMrDtLuT9ZzGyoWD?cluster=devnet" TargetMode="External" Id="Rc5050a6f3a9744e0" /><Relationship Type="http://schemas.openxmlformats.org/officeDocument/2006/relationships/hyperlink" Target="https://github.com/rmazz05/fairtix/blob/0175ebf9f62bee79187c1c6dc2ff0de716cc455c/chain/programs/fairtix_hook/src/lib.rs" TargetMode="External" Id="R2d0528de4e7242bb" /><Relationship Type="http://schemas.openxmlformats.org/officeDocument/2006/relationships/hyperlink" Target="https://solana.com/docs/tokens/extensions/immutable-owner" TargetMode="External" Id="R31a66f10df8249ba" /><Relationship Type="http://schemas.openxmlformats.org/officeDocument/2006/relationships/notesSlide" Target="/ppt/notesSlides/notesSlide7.xml" Id="Rc3e10d10ee334f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b3362de727d4d33" /><Relationship Type="http://schemas.openxmlformats.org/officeDocument/2006/relationships/hyperlink" Target="https://fairtix-whu.vercel.app/demo" TargetMode="External" Id="R2b57c2450a9740fe" /><Relationship Type="http://schemas.openxmlformats.org/officeDocument/2006/relationships/notesSlide" Target="/ppt/notesSlides/notesSlide8.xml" Id="Rdaa8494802884072" /></Relationships>
</file>

<file path=ppt/slides/slide1.xml><?xml version="1.0" encoding="utf-8"?>
<p:sld xmlns:p="http://schemas.openxmlformats.org/presentationml/2006/main">
  <p:cSld>
    <p:bg>
      <p:bgPr>
        <a:solidFill xmlns:a="http://schemas.openxmlformats.org/drawingml/2006/main">
          <a:srgbClr val="F3EFE6"/>
        </a:solidFill>
      </p:bgPr>
    </p:bg>
    <p:spTree>
      <p:nvGrpSpPr>
        <p:cNvPr id="1" name=""/>
        <p:cNvGrpSpPr/>
        <p:nvPr/>
      </p:nvGrpSpPr>
      <p:grpSpPr>
        <a:xfrm xmlns:a="http://schemas.openxmlformats.org/drawingml/2006/main"/>
      </p:grpSpPr>
      <p:sp>
        <p:nvSpPr>
          <p:cNvPr id="7" name="text-1-0">
            <a:extLst xmlns:a="http://schemas.openxmlformats.org/drawingml/2006/main">
              <a:ext uri="{FF2B5EF4-FFF2-40B4-BE49-F238E27FC236}">
                <a16:creationId xmlns:a16="http://schemas.microsoft.com/office/drawing/2014/main" id="{86040306-AF22-483A-8394-5E02B1872676}"/>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01</a:t>
            </a:r>
          </a:p>
        </p:txBody>
      </p:sp>
      <p:sp>
        <p:nvSpPr>
          <p:cNvPr id="2" name="text-1-1">
            <a:extLst xmlns:a="http://schemas.openxmlformats.org/drawingml/2006/main">
              <a:ext uri="{FF2B5EF4-FFF2-40B4-BE49-F238E27FC236}">
                <a16:creationId xmlns:a16="http://schemas.microsoft.com/office/drawing/2014/main" id="{94DDBD1D-9B63-46B7-8A29-CA349EF4B979}"/>
              </a:ext>
            </a:extLst>
          </p:cNvPr>
          <p:cNvSpPr>
            <a:spLocks xmlns:a="http://schemas.openxmlformats.org/drawingml/2006/main" noGrp="1"/>
          </p:cNvSpPr>
          <p:nvPr/>
        </p:nvSpPr>
        <p:spPr>
          <a:xfrm xmlns:a="http://schemas.openxmlformats.org/drawingml/2006/main">
            <a:off x="685800" y="590550"/>
            <a:ext cx="4762500" cy="7303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050" b="1">
                <a:solidFill>
                  <a:srgbClr val="FF4A1C"/>
                </a:solidFill>
                <a:latin typeface="Archivo"/>
                <a:ea typeface="Archivo"/>
                <a:cs typeface="Archivo"/>
              </a:defRPr>
            </a:pPr>
            <a:r>
              <a:rPr sz="4050" b="1">
                <a:solidFill>
                  <a:srgbClr val="FF4A1C"/>
                </a:solidFill>
                <a:latin typeface="Archivo"/>
                <a:ea typeface="Archivo"/>
                <a:cs typeface="Archivo"/>
              </a:rPr>
              <a:t>fairtix.</a:t>
            </a:r>
          </a:p>
        </p:txBody>
      </p:sp>
      <p:sp>
        <p:nvSpPr>
          <p:cNvPr id="3" name="text-1-2">
            <a:extLst xmlns:a="http://schemas.openxmlformats.org/drawingml/2006/main">
              <a:ext uri="{FF2B5EF4-FFF2-40B4-BE49-F238E27FC236}">
                <a16:creationId xmlns:a16="http://schemas.microsoft.com/office/drawing/2014/main" id="{20FCD803-6556-472F-9202-285C40516EE2}"/>
              </a:ext>
            </a:extLst>
          </p:cNvPr>
          <p:cNvSpPr>
            <a:spLocks xmlns:a="http://schemas.openxmlformats.org/drawingml/2006/main" noGrp="1"/>
          </p:cNvSpPr>
          <p:nvPr/>
        </p:nvSpPr>
        <p:spPr>
          <a:xfrm xmlns:a="http://schemas.openxmlformats.org/drawingml/2006/main">
            <a:off x="685800" y="1943100"/>
            <a:ext cx="10820400" cy="1027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700" b="1">
                <a:solidFill>
                  <a:srgbClr val="16130F"/>
                </a:solidFill>
                <a:latin typeface="Archivo"/>
                <a:ea typeface="Archivo"/>
                <a:cs typeface="Archivo"/>
              </a:defRPr>
            </a:pPr>
            <a:r>
              <a:rPr sz="5700" b="1">
                <a:solidFill>
                  <a:srgbClr val="16130F"/>
                </a:solidFill>
                <a:latin typeface="Archivo"/>
                <a:ea typeface="Archivo"/>
                <a:cs typeface="Archivo"/>
              </a:rPr>
              <a:t>Ticketing with a resale cap</a:t>
            </a:r>
          </a:p>
        </p:txBody>
      </p:sp>
      <p:sp>
        <p:nvSpPr>
          <p:cNvPr id="4" name="text-1-3">
            <a:extLst xmlns:a="http://schemas.openxmlformats.org/drawingml/2006/main">
              <a:ext uri="{FF2B5EF4-FFF2-40B4-BE49-F238E27FC236}">
                <a16:creationId xmlns:a16="http://schemas.microsoft.com/office/drawing/2014/main" id="{9CEB75E9-7C30-45BC-A614-EB36A427A12C}"/>
              </a:ext>
            </a:extLst>
          </p:cNvPr>
          <p:cNvSpPr>
            <a:spLocks xmlns:a="http://schemas.openxmlformats.org/drawingml/2006/main" noGrp="1"/>
          </p:cNvSpPr>
          <p:nvPr/>
        </p:nvSpPr>
        <p:spPr>
          <a:xfrm xmlns:a="http://schemas.openxmlformats.org/drawingml/2006/main">
            <a:off x="685800" y="2724912"/>
            <a:ext cx="10820400" cy="1027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700" b="1">
                <a:solidFill>
                  <a:srgbClr val="16130F"/>
                </a:solidFill>
                <a:latin typeface="Archivo"/>
                <a:ea typeface="Archivo"/>
                <a:cs typeface="Archivo"/>
              </a:defRPr>
            </a:pPr>
            <a:r>
              <a:rPr sz="5700" b="1">
                <a:solidFill>
                  <a:srgbClr val="16130F"/>
                </a:solidFill>
                <a:latin typeface="Archivo"/>
                <a:ea typeface="Archivo"/>
                <a:cs typeface="Archivo"/>
              </a:rPr>
              <a:t>set by the organizer</a:t>
            </a:r>
          </a:p>
        </p:txBody>
      </p:sp>
      <p:sp>
        <p:nvSpPr>
          <p:cNvPr id="5" name="text-1-4">
            <a:extLst xmlns:a="http://schemas.openxmlformats.org/drawingml/2006/main">
              <a:ext uri="{FF2B5EF4-FFF2-40B4-BE49-F238E27FC236}">
                <a16:creationId xmlns:a16="http://schemas.microsoft.com/office/drawing/2014/main" id="{8CAD1203-29C9-413F-8A91-A40BAE7BFD7C}"/>
              </a:ext>
            </a:extLst>
          </p:cNvPr>
          <p:cNvSpPr>
            <a:spLocks xmlns:a="http://schemas.openxmlformats.org/drawingml/2006/main" noGrp="1"/>
          </p:cNvSpPr>
          <p:nvPr/>
        </p:nvSpPr>
        <p:spPr>
          <a:xfrm xmlns:a="http://schemas.openxmlformats.org/drawingml/2006/main">
            <a:off x="685800" y="4210050"/>
            <a:ext cx="10382250" cy="4328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00" b="0">
                <a:solidFill>
                  <a:srgbClr val="16130F"/>
                </a:solidFill>
                <a:latin typeface="IBM Plex Sans"/>
                <a:ea typeface="IBM Plex Sans"/>
                <a:cs typeface="IBM Plex Sans"/>
              </a:defRPr>
            </a:pPr>
            <a:r>
              <a:rPr sz="2400" b="0">
                <a:solidFill>
                  <a:srgbClr val="16130F"/>
                </a:solidFill>
                <a:latin typeface="IBM Plex Sans"/>
                <a:ea typeface="IBM Plex Sans"/>
                <a:cs typeface="IBM Plex Sans"/>
              </a:rPr>
              <a:t>Fans can resell their tickets.</a:t>
            </a:r>
          </a:p>
        </p:txBody>
      </p:sp>
      <p:sp>
        <p:nvSpPr>
          <p:cNvPr id="6" name="text-1-5">
            <a:extLst xmlns:a="http://schemas.openxmlformats.org/drawingml/2006/main">
              <a:ext uri="{FF2B5EF4-FFF2-40B4-BE49-F238E27FC236}">
                <a16:creationId xmlns:a16="http://schemas.microsoft.com/office/drawing/2014/main" id="{10EC48C8-733B-4599-90F6-17BBB40FFB7F}"/>
              </a:ext>
            </a:extLst>
          </p:cNvPr>
          <p:cNvSpPr>
            <a:spLocks xmlns:a="http://schemas.openxmlformats.org/drawingml/2006/main" noGrp="1"/>
          </p:cNvSpPr>
          <p:nvPr/>
        </p:nvSpPr>
        <p:spPr>
          <a:xfrm xmlns:a="http://schemas.openxmlformats.org/drawingml/2006/main">
            <a:off x="685800" y="4557522"/>
            <a:ext cx="10382250" cy="4328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00" b="0">
                <a:solidFill>
                  <a:srgbClr val="16130F"/>
                </a:solidFill>
                <a:latin typeface="IBM Plex Sans"/>
                <a:ea typeface="IBM Plex Sans"/>
                <a:cs typeface="IBM Plex Sans"/>
              </a:defRPr>
            </a:pPr>
            <a:r>
              <a:rPr sz="2400" b="0">
                <a:solidFill>
                  <a:srgbClr val="16130F"/>
                </a:solidFill>
                <a:latin typeface="IBM Plex Sans"/>
                <a:ea typeface="IBM Plex Sans"/>
                <a:cs typeface="IBM Plex Sans"/>
              </a:rPr>
              <a:t>The organizer decides the maximum price.</a:t>
            </a:r>
          </a:p>
        </p:txBody>
      </p:sp>
    </p:spTree>
    <p:extLst>
      <p:ext uri="{BB962C8B-B14F-4D97-AF65-F5344CB8AC3E}">
        <p14:creationId xmlns:p14="http://schemas.microsoft.com/office/powerpoint/2010/main" val="320222409"/>
      </p:ext>
    </p:extLst>
  </p:cSld>
</p:sld>
</file>

<file path=ppt/slides/slide2.xml><?xml version="1.0" encoding="utf-8"?>
<p:sld xmlns:p="http://schemas.openxmlformats.org/presentationml/2006/main">
  <p:cSld>
    <p:bg>
      <p:bgPr>
        <a:solidFill xmlns:a="http://schemas.openxmlformats.org/drawingml/2006/main">
          <a:srgbClr val="16130F"/>
        </a:solidFill>
      </p:bgPr>
    </p:bg>
    <p:spTree>
      <p:nvGrpSpPr>
        <p:cNvPr id="1" name=""/>
        <p:cNvGrpSpPr/>
        <p:nvPr/>
      </p:nvGrpSpPr>
      <p:grpSpPr>
        <a:xfrm xmlns:a="http://schemas.openxmlformats.org/drawingml/2006/main"/>
      </p:grpSpPr>
      <p:sp>
        <p:nvSpPr>
          <p:cNvPr id="11" name="text-2-0">
            <a:extLst xmlns:a="http://schemas.openxmlformats.org/drawingml/2006/main">
              <a:ext uri="{FF2B5EF4-FFF2-40B4-BE49-F238E27FC236}">
                <a16:creationId xmlns:a16="http://schemas.microsoft.com/office/drawing/2014/main" id="{348C55AD-00EC-4121-8196-DDB91CE7C960}"/>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F3EFE6"/>
                </a:solidFill>
                <a:latin typeface="IBM Plex Mono"/>
                <a:ea typeface="IBM Plex Mono"/>
                <a:cs typeface="IBM Plex Mono"/>
              </a:defRPr>
            </a:pPr>
            <a:r>
              <a:rPr sz="1350" b="0">
                <a:solidFill>
                  <a:srgbClr val="F3EFE6"/>
                </a:solidFill>
                <a:latin typeface="IBM Plex Mono"/>
                <a:ea typeface="IBM Plex Mono"/>
                <a:cs typeface="IBM Plex Mono"/>
              </a:rPr>
              <a:t>02</a:t>
            </a:r>
          </a:p>
        </p:txBody>
      </p:sp>
      <p:sp>
        <p:nvSpPr>
          <p:cNvPr id="2" name="text-2-1">
            <a:extLst xmlns:a="http://schemas.openxmlformats.org/drawingml/2006/main">
              <a:ext uri="{FF2B5EF4-FFF2-40B4-BE49-F238E27FC236}">
                <a16:creationId xmlns:a16="http://schemas.microsoft.com/office/drawing/2014/main" id="{52AC42EE-A4A4-4F65-8529-AC5F9AC61074}"/>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D9D2C3"/>
                </a:solidFill>
                <a:latin typeface="IBM Plex Sans"/>
                <a:ea typeface="IBM Plex Sans"/>
                <a:cs typeface="IBM Plex Sans"/>
              </a:defRPr>
            </a:pPr>
            <a:r>
              <a:rPr sz="1650" b="0">
                <a:solidFill>
                  <a:srgbClr val="D9D2C3"/>
                </a:solidFill>
                <a:latin typeface="IBM Plex Sans"/>
                <a:ea typeface="IBM Plex Sans"/>
                <a:cs typeface="IBM Plex Sans"/>
              </a:rPr>
              <a:t>The problem</a:t>
            </a:r>
          </a:p>
        </p:txBody>
      </p:sp>
      <p:sp>
        <p:nvSpPr>
          <p:cNvPr id="3" name="text-2-2">
            <a:extLst xmlns:a="http://schemas.openxmlformats.org/drawingml/2006/main">
              <a:ext uri="{FF2B5EF4-FFF2-40B4-BE49-F238E27FC236}">
                <a16:creationId xmlns:a16="http://schemas.microsoft.com/office/drawing/2014/main" id="{D2FDD528-C99A-49A8-B977-546F28F23822}"/>
              </a:ext>
            </a:extLst>
          </p:cNvPr>
          <p:cNvSpPr>
            <a:spLocks xmlns:a="http://schemas.openxmlformats.org/drawingml/2006/main" noGrp="1"/>
          </p:cNvSpPr>
          <p:nvPr/>
        </p:nvSpPr>
        <p:spPr>
          <a:xfrm xmlns:a="http://schemas.openxmlformats.org/drawingml/2006/main">
            <a:off x="685800" y="1057275"/>
            <a:ext cx="10820400" cy="7980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425" b="1">
                <a:solidFill>
                  <a:srgbClr val="F3EFE6"/>
                </a:solidFill>
                <a:latin typeface="Archivo"/>
                <a:ea typeface="Archivo"/>
                <a:cs typeface="Archivo"/>
              </a:defRPr>
            </a:pPr>
            <a:r>
              <a:rPr sz="4425" b="1">
                <a:solidFill>
                  <a:srgbClr val="F3EFE6"/>
                </a:solidFill>
                <a:latin typeface="Archivo"/>
                <a:ea typeface="Archivo"/>
                <a:cs typeface="Archivo"/>
              </a:rPr>
              <a:t>How do we stop tickets</a:t>
            </a:r>
          </a:p>
        </p:txBody>
      </p:sp>
      <p:sp>
        <p:nvSpPr>
          <p:cNvPr id="4" name="text-2-3">
            <a:extLst xmlns:a="http://schemas.openxmlformats.org/drawingml/2006/main">
              <a:ext uri="{FF2B5EF4-FFF2-40B4-BE49-F238E27FC236}">
                <a16:creationId xmlns:a16="http://schemas.microsoft.com/office/drawing/2014/main" id="{8CDCCA5C-BC2E-4951-B2A0-DA2EE3FBAED0}"/>
              </a:ext>
            </a:extLst>
          </p:cNvPr>
          <p:cNvSpPr>
            <a:spLocks xmlns:a="http://schemas.openxmlformats.org/drawingml/2006/main" noGrp="1"/>
          </p:cNvSpPr>
          <p:nvPr/>
        </p:nvSpPr>
        <p:spPr>
          <a:xfrm xmlns:a="http://schemas.openxmlformats.org/drawingml/2006/main">
            <a:off x="685800" y="1664208"/>
            <a:ext cx="10820400" cy="7980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425" b="1">
                <a:solidFill>
                  <a:srgbClr val="F3EFE6"/>
                </a:solidFill>
                <a:latin typeface="Archivo"/>
                <a:ea typeface="Archivo"/>
                <a:cs typeface="Archivo"/>
              </a:defRPr>
            </a:pPr>
            <a:r>
              <a:rPr sz="4425" b="1">
                <a:solidFill>
                  <a:srgbClr val="F3EFE6"/>
                </a:solidFill>
                <a:latin typeface="Archivo"/>
                <a:ea typeface="Archivo"/>
                <a:cs typeface="Archivo"/>
              </a:rPr>
              <a:t>reselling at unreasonable prices?</a:t>
            </a:r>
          </a:p>
        </p:txBody>
      </p:sp>
      <p:sp>
        <p:nvSpPr>
          <p:cNvPr id="5" name="text-2-4">
            <a:extLst xmlns:a="http://schemas.openxmlformats.org/drawingml/2006/main">
              <a:ext uri="{FF2B5EF4-FFF2-40B4-BE49-F238E27FC236}">
                <a16:creationId xmlns:a16="http://schemas.microsoft.com/office/drawing/2014/main" id="{D0EE50F0-D199-4050-AB3B-190EB3959650}"/>
              </a:ext>
            </a:extLst>
          </p:cNvPr>
          <p:cNvSpPr>
            <a:spLocks xmlns:a="http://schemas.openxmlformats.org/drawingml/2006/main" noGrp="1"/>
          </p:cNvSpPr>
          <p:nvPr/>
        </p:nvSpPr>
        <p:spPr>
          <a:xfrm xmlns:a="http://schemas.openxmlformats.org/drawingml/2006/main">
            <a:off x="685800" y="3000375"/>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F3EFE6"/>
                </a:solidFill>
                <a:latin typeface="IBM Plex Sans"/>
                <a:ea typeface="IBM Plex Sans"/>
                <a:cs typeface="IBM Plex Sans"/>
              </a:defRPr>
            </a:pPr>
            <a:r>
              <a:rPr sz="2175" b="0">
                <a:solidFill>
                  <a:srgbClr val="F3EFE6"/>
                </a:solidFill>
                <a:latin typeface="IBM Plex Sans"/>
                <a:ea typeface="IBM Plex Sans"/>
                <a:cs typeface="IBM Plex Sans"/>
              </a:rPr>
              <a:t>A price cap can fail when tickets can move freely.</a:t>
            </a:r>
          </a:p>
        </p:txBody>
      </p:sp>
      <p:sp>
        <p:nvSpPr>
          <p:cNvPr id="6" name="text-2-5">
            <a:extLst xmlns:a="http://schemas.openxmlformats.org/drawingml/2006/main">
              <a:ext uri="{FF2B5EF4-FFF2-40B4-BE49-F238E27FC236}">
                <a16:creationId xmlns:a16="http://schemas.microsoft.com/office/drawing/2014/main" id="{8DCBA07E-B462-4B35-96BE-0B47CAF27D8C}"/>
              </a:ext>
            </a:extLst>
          </p:cNvPr>
          <p:cNvSpPr>
            <a:spLocks xmlns:a="http://schemas.openxmlformats.org/drawingml/2006/main" noGrp="1"/>
          </p:cNvSpPr>
          <p:nvPr/>
        </p:nvSpPr>
        <p:spPr>
          <a:xfrm xmlns:a="http://schemas.openxmlformats.org/drawingml/2006/main">
            <a:off x="685800" y="3315272"/>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F3EFE6"/>
                </a:solidFill>
                <a:latin typeface="IBM Plex Sans"/>
                <a:ea typeface="IBM Plex Sans"/>
                <a:cs typeface="IBM Plex Sans"/>
              </a:defRPr>
            </a:pPr>
            <a:r>
              <a:rPr sz="2175" b="0">
                <a:solidFill>
                  <a:srgbClr val="F3EFE6"/>
                </a:solidFill>
                <a:latin typeface="IBM Plex Sans"/>
                <a:ea typeface="IBM Plex Sans"/>
                <a:cs typeface="IBM Plex Sans"/>
              </a:rPr>
              <a:t>A seller can collect payment elsewhere, then send the ticket.</a:t>
            </a:r>
          </a:p>
        </p:txBody>
      </p:sp>
      <p:sp>
        <p:nvSpPr>
          <p:cNvPr id="7" name="text-2-6">
            <a:extLst xmlns:a="http://schemas.openxmlformats.org/drawingml/2006/main">
              <a:ext uri="{FF2B5EF4-FFF2-40B4-BE49-F238E27FC236}">
                <a16:creationId xmlns:a16="http://schemas.microsoft.com/office/drawing/2014/main" id="{584533BE-8AFE-4D4A-95F0-B5732D7AA2D8}"/>
              </a:ext>
            </a:extLst>
          </p:cNvPr>
          <p:cNvSpPr>
            <a:spLocks xmlns:a="http://schemas.openxmlformats.org/drawingml/2006/main" noGrp="1"/>
          </p:cNvSpPr>
          <p:nvPr/>
        </p:nvSpPr>
        <p:spPr>
          <a:xfrm xmlns:a="http://schemas.openxmlformats.org/drawingml/2006/main">
            <a:off x="685800" y="4429125"/>
            <a:ext cx="4286250" cy="1487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8250" b="0">
                <a:solidFill>
                  <a:srgbClr val="F3EFE6"/>
                </a:solidFill>
                <a:latin typeface="IBM Plex Mono"/>
                <a:ea typeface="IBM Plex Mono"/>
                <a:cs typeface="IBM Plex Mono"/>
              </a:defRPr>
            </a:pPr>
            <a:r>
              <a:rPr sz="8250" b="0">
                <a:solidFill>
                  <a:srgbClr val="F3EFE6"/>
                </a:solidFill>
                <a:latin typeface="IBM Plex Mono"/>
                <a:ea typeface="IBM Plex Mono"/>
                <a:cs typeface="IBM Plex Mono"/>
              </a:rPr>
              <a:t>€25</a:t>
            </a:r>
          </a:p>
        </p:txBody>
      </p:sp>
      <p:sp>
        <p:nvSpPr>
          <p:cNvPr id="8" name="text-2-7">
            <a:extLst xmlns:a="http://schemas.openxmlformats.org/drawingml/2006/main">
              <a:ext uri="{FF2B5EF4-FFF2-40B4-BE49-F238E27FC236}">
                <a16:creationId xmlns:a16="http://schemas.microsoft.com/office/drawing/2014/main" id="{12171F50-1BEF-4B81-B516-CDF74FD247EA}"/>
              </a:ext>
            </a:extLst>
          </p:cNvPr>
          <p:cNvSpPr>
            <a:spLocks xmlns:a="http://schemas.openxmlformats.org/drawingml/2006/main" noGrp="1"/>
          </p:cNvSpPr>
          <p:nvPr/>
        </p:nvSpPr>
        <p:spPr>
          <a:xfrm xmlns:a="http://schemas.openxmlformats.org/drawingml/2006/main">
            <a:off x="6572250" y="4429125"/>
            <a:ext cx="4286250" cy="1487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8250" b="0">
                <a:solidFill>
                  <a:srgbClr val="FF4A1C"/>
                </a:solidFill>
                <a:latin typeface="IBM Plex Mono"/>
                <a:ea typeface="IBM Plex Mono"/>
                <a:cs typeface="IBM Plex Mono"/>
              </a:defRPr>
            </a:pPr>
            <a:r>
              <a:rPr sz="8250" b="0">
                <a:solidFill>
                  <a:srgbClr val="FF4A1C"/>
                </a:solidFill>
                <a:latin typeface="IBM Plex Mono"/>
                <a:ea typeface="IBM Plex Mono"/>
                <a:cs typeface="IBM Plex Mono"/>
              </a:rPr>
              <a:t>€60</a:t>
            </a:r>
          </a:p>
        </p:txBody>
      </p:sp>
      <p:sp>
        <p:nvSpPr>
          <p:cNvPr id="9" name="text-2-8">
            <a:extLst xmlns:a="http://schemas.openxmlformats.org/drawingml/2006/main">
              <a:ext uri="{FF2B5EF4-FFF2-40B4-BE49-F238E27FC236}">
                <a16:creationId xmlns:a16="http://schemas.microsoft.com/office/drawing/2014/main" id="{C0ED0523-6084-4CE8-AE07-5E9C3FD43B24}"/>
              </a:ext>
            </a:extLst>
          </p:cNvPr>
          <p:cNvSpPr>
            <a:spLocks xmlns:a="http://schemas.openxmlformats.org/drawingml/2006/main" noGrp="1"/>
          </p:cNvSpPr>
          <p:nvPr/>
        </p:nvSpPr>
        <p:spPr>
          <a:xfrm xmlns:a="http://schemas.openxmlformats.org/drawingml/2006/main">
            <a:off x="742950" y="5743575"/>
            <a:ext cx="476250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F3EFE6"/>
                </a:solidFill>
                <a:latin typeface="IBM Plex Sans"/>
                <a:ea typeface="IBM Plex Sans"/>
                <a:cs typeface="IBM Plex Sans"/>
              </a:defRPr>
            </a:pPr>
            <a:r>
              <a:rPr sz="1950" b="0">
                <a:solidFill>
                  <a:srgbClr val="F3EFE6"/>
                </a:solidFill>
                <a:latin typeface="IBM Plex Sans"/>
                <a:ea typeface="IBM Plex Sans"/>
                <a:cs typeface="IBM Plex Sans"/>
              </a:rPr>
              <a:t>Original ticket price</a:t>
            </a:r>
          </a:p>
        </p:txBody>
      </p:sp>
      <p:sp>
        <p:nvSpPr>
          <p:cNvPr id="10" name="text-2-9">
            <a:extLst xmlns:a="http://schemas.openxmlformats.org/drawingml/2006/main">
              <a:ext uri="{FF2B5EF4-FFF2-40B4-BE49-F238E27FC236}">
                <a16:creationId xmlns:a16="http://schemas.microsoft.com/office/drawing/2014/main" id="{20C136FC-FE42-4181-A832-E270F3A25738}"/>
              </a:ext>
            </a:extLst>
          </p:cNvPr>
          <p:cNvSpPr>
            <a:spLocks xmlns:a="http://schemas.openxmlformats.org/drawingml/2006/main" noGrp="1"/>
          </p:cNvSpPr>
          <p:nvPr/>
        </p:nvSpPr>
        <p:spPr>
          <a:xfrm xmlns:a="http://schemas.openxmlformats.org/drawingml/2006/main">
            <a:off x="6629400" y="5743575"/>
            <a:ext cx="485775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F3EFE6"/>
                </a:solidFill>
                <a:latin typeface="IBM Plex Sans"/>
                <a:ea typeface="IBM Plex Sans"/>
                <a:cs typeface="IBM Plex Sans"/>
              </a:defRPr>
            </a:pPr>
            <a:r>
              <a:rPr sz="1950" b="0">
                <a:solidFill>
                  <a:srgbClr val="F3EFE6"/>
                </a:solidFill>
                <a:latin typeface="IBM Plex Sans"/>
                <a:ea typeface="IBM Plex Sans"/>
                <a:cs typeface="IBM Plex Sans"/>
              </a:rPr>
              <a:t>Reseller’s asking price</a:t>
            </a:r>
          </a:p>
        </p:txBody>
      </p:sp>
    </p:spTree>
    <p:extLst>
      <p:ext uri="{BB962C8B-B14F-4D97-AF65-F5344CB8AC3E}">
        <p14:creationId xmlns:p14="http://schemas.microsoft.com/office/powerpoint/2010/main" val="104831918"/>
      </p:ext>
    </p:extLst>
  </p:cSld>
</p:sld>
</file>

<file path=ppt/slides/slide3.xml><?xml version="1.0" encoding="utf-8"?>
<p:sld xmlns:p="http://schemas.openxmlformats.org/presentationml/2006/main">
  <p:cSld>
    <p:bg>
      <p:bgPr>
        <a:solidFill xmlns:a="http://schemas.openxmlformats.org/drawingml/2006/main">
          <a:srgbClr val="F3EFE6"/>
        </a:solidFill>
      </p:bgPr>
    </p:bg>
    <p:spTree>
      <p:nvGrpSpPr>
        <p:cNvPr id="1" name=""/>
        <p:cNvGrpSpPr/>
        <p:nvPr/>
      </p:nvGrpSpPr>
      <p:grpSpPr>
        <a:xfrm xmlns:a="http://schemas.openxmlformats.org/drawingml/2006/main"/>
      </p:grpSpPr>
      <p:sp>
        <p:nvSpPr>
          <p:cNvPr id="12" name="text-3-0">
            <a:extLst xmlns:a="http://schemas.openxmlformats.org/drawingml/2006/main">
              <a:ext uri="{FF2B5EF4-FFF2-40B4-BE49-F238E27FC236}">
                <a16:creationId xmlns:a16="http://schemas.microsoft.com/office/drawing/2014/main" id="{715BBB54-B89E-414E-B51D-0974E5AC4358}"/>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03</a:t>
            </a:r>
          </a:p>
        </p:txBody>
      </p:sp>
      <p:sp>
        <p:nvSpPr>
          <p:cNvPr id="2" name="text-3-1">
            <a:extLst xmlns:a="http://schemas.openxmlformats.org/drawingml/2006/main">
              <a:ext uri="{FF2B5EF4-FFF2-40B4-BE49-F238E27FC236}">
                <a16:creationId xmlns:a16="http://schemas.microsoft.com/office/drawing/2014/main" id="{41550873-8C80-4943-886D-9C5626E166FD}"/>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B554C"/>
                </a:solidFill>
                <a:latin typeface="IBM Plex Sans"/>
                <a:ea typeface="IBM Plex Sans"/>
                <a:cs typeface="IBM Plex Sans"/>
              </a:defRPr>
            </a:pPr>
            <a:r>
              <a:rPr sz="1650" b="0">
                <a:solidFill>
                  <a:srgbClr val="5B554C"/>
                </a:solidFill>
                <a:latin typeface="IBM Plex Sans"/>
                <a:ea typeface="IBM Plex Sans"/>
                <a:cs typeface="IBM Plex Sans"/>
              </a:rPr>
              <a:t>The proposed solution</a:t>
            </a:r>
          </a:p>
        </p:txBody>
      </p:sp>
      <p:sp>
        <p:nvSpPr>
          <p:cNvPr id="3" name="text-3-2">
            <a:extLst xmlns:a="http://schemas.openxmlformats.org/drawingml/2006/main">
              <a:ext uri="{FF2B5EF4-FFF2-40B4-BE49-F238E27FC236}">
                <a16:creationId xmlns:a16="http://schemas.microsoft.com/office/drawing/2014/main" id="{79C08F22-F02F-4C59-918B-2EEE02C1D2C4}"/>
              </a:ext>
            </a:extLst>
          </p:cNvPr>
          <p:cNvSpPr>
            <a:spLocks xmlns:a="http://schemas.openxmlformats.org/drawingml/2006/main" noGrp="1"/>
          </p:cNvSpPr>
          <p:nvPr/>
        </p:nvSpPr>
        <p:spPr>
          <a:xfrm xmlns:a="http://schemas.openxmlformats.org/drawingml/2006/main">
            <a:off x="685800" y="1057275"/>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The organizer sets</a:t>
            </a:r>
          </a:p>
        </p:txBody>
      </p:sp>
      <p:sp>
        <p:nvSpPr>
          <p:cNvPr id="4" name="text-3-3">
            <a:extLst xmlns:a="http://schemas.openxmlformats.org/drawingml/2006/main">
              <a:ext uri="{FF2B5EF4-FFF2-40B4-BE49-F238E27FC236}">
                <a16:creationId xmlns:a16="http://schemas.microsoft.com/office/drawing/2014/main" id="{FB5C8FE8-9500-4F41-AEA1-A04D284F7A6A}"/>
              </a:ext>
            </a:extLst>
          </p:cNvPr>
          <p:cNvSpPr>
            <a:spLocks xmlns:a="http://schemas.openxmlformats.org/drawingml/2006/main" noGrp="1"/>
          </p:cNvSpPr>
          <p:nvPr/>
        </p:nvSpPr>
        <p:spPr>
          <a:xfrm xmlns:a="http://schemas.openxmlformats.org/drawingml/2006/main">
            <a:off x="685800" y="1653921"/>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the resale cap</a:t>
            </a:r>
          </a:p>
        </p:txBody>
      </p:sp>
      <p:sp>
        <p:nvSpPr>
          <p:cNvPr id="5" name="text-3-4">
            <a:extLst xmlns:a="http://schemas.openxmlformats.org/drawingml/2006/main">
              <a:ext uri="{FF2B5EF4-FFF2-40B4-BE49-F238E27FC236}">
                <a16:creationId xmlns:a16="http://schemas.microsoft.com/office/drawing/2014/main" id="{FA6916E9-2F46-410A-9644-1E599B3028E7}"/>
              </a:ext>
            </a:extLst>
          </p:cNvPr>
          <p:cNvSpPr>
            <a:spLocks xmlns:a="http://schemas.openxmlformats.org/drawingml/2006/main" noGrp="1"/>
          </p:cNvSpPr>
          <p:nvPr/>
        </p:nvSpPr>
        <p:spPr>
          <a:xfrm xmlns:a="http://schemas.openxmlformats.org/drawingml/2006/main">
            <a:off x="685800" y="2695575"/>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6130F"/>
                </a:solidFill>
                <a:latin typeface="IBM Plex Sans"/>
                <a:ea typeface="IBM Plex Sans"/>
                <a:cs typeface="IBM Plex Sans"/>
              </a:defRPr>
            </a:pPr>
            <a:r>
              <a:rPr sz="2175" b="0">
                <a:solidFill>
                  <a:srgbClr val="16130F"/>
                </a:solidFill>
                <a:latin typeface="IBM Plex Sans"/>
                <a:ea typeface="IBM Plex Sans"/>
                <a:cs typeface="IBM Plex Sans"/>
              </a:rPr>
              <a:t>Fairtix checks the asking price before a ticket enters resale.</a:t>
            </a:r>
          </a:p>
        </p:txBody>
      </p:sp>
      <p:sp>
        <p:nvSpPr>
          <p:cNvPr id="6" name="text-3-5">
            <a:extLst xmlns:a="http://schemas.openxmlformats.org/drawingml/2006/main">
              <a:ext uri="{FF2B5EF4-FFF2-40B4-BE49-F238E27FC236}">
                <a16:creationId xmlns:a16="http://schemas.microsoft.com/office/drawing/2014/main" id="{6594F9DE-946E-4ACD-8006-EE31660FEA89}"/>
              </a:ext>
            </a:extLst>
          </p:cNvPr>
          <p:cNvSpPr>
            <a:spLocks xmlns:a="http://schemas.openxmlformats.org/drawingml/2006/main" noGrp="1"/>
          </p:cNvSpPr>
          <p:nvPr/>
        </p:nvSpPr>
        <p:spPr>
          <a:xfrm xmlns:a="http://schemas.openxmlformats.org/drawingml/2006/main">
            <a:off x="685800" y="3010472"/>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6130F"/>
                </a:solidFill>
                <a:latin typeface="IBM Plex Sans"/>
                <a:ea typeface="IBM Plex Sans"/>
                <a:cs typeface="IBM Plex Sans"/>
              </a:defRPr>
            </a:pPr>
            <a:r>
              <a:rPr sz="2175" b="0">
                <a:solidFill>
                  <a:srgbClr val="16130F"/>
                </a:solidFill>
                <a:latin typeface="IBM Plex Sans"/>
                <a:ea typeface="IBM Plex Sans"/>
                <a:cs typeface="IBM Plex Sans"/>
              </a:rPr>
              <a:t>A listing above the cap fails. The seller keeps the ticket.</a:t>
            </a:r>
          </a:p>
        </p:txBody>
      </p:sp>
      <p:sp>
        <p:nvSpPr>
          <p:cNvPr id="7" name="text-3-6">
            <a:extLst xmlns:a="http://schemas.openxmlformats.org/drawingml/2006/main">
              <a:ext uri="{FF2B5EF4-FFF2-40B4-BE49-F238E27FC236}">
                <a16:creationId xmlns:a16="http://schemas.microsoft.com/office/drawing/2014/main" id="{2A7045F2-ACD1-45C9-9181-B41B42FD4974}"/>
              </a:ext>
            </a:extLst>
          </p:cNvPr>
          <p:cNvSpPr>
            <a:spLocks xmlns:a="http://schemas.openxmlformats.org/drawingml/2006/main" noGrp="1"/>
          </p:cNvSpPr>
          <p:nvPr/>
        </p:nvSpPr>
        <p:spPr>
          <a:xfrm xmlns:a="http://schemas.openxmlformats.org/drawingml/2006/main">
            <a:off x="685800" y="4114800"/>
            <a:ext cx="6429375" cy="17853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900" b="0">
                <a:solidFill>
                  <a:srgbClr val="FF4A1C"/>
                </a:solidFill>
                <a:latin typeface="IBM Plex Mono"/>
                <a:ea typeface="IBM Plex Mono"/>
                <a:cs typeface="IBM Plex Mono"/>
              </a:defRPr>
            </a:pPr>
            <a:r>
              <a:rPr sz="9900" b="0">
                <a:solidFill>
                  <a:srgbClr val="FF4A1C"/>
                </a:solidFill>
                <a:latin typeface="IBM Plex Mono"/>
                <a:ea typeface="IBM Plex Mono"/>
                <a:cs typeface="IBM Plex Mono"/>
              </a:rPr>
              <a:t>€27.50</a:t>
            </a:r>
          </a:p>
        </p:txBody>
      </p:sp>
      <p:sp>
        <p:nvSpPr>
          <p:cNvPr id="8" name="text-3-7">
            <a:extLst xmlns:a="http://schemas.openxmlformats.org/drawingml/2006/main">
              <a:ext uri="{FF2B5EF4-FFF2-40B4-BE49-F238E27FC236}">
                <a16:creationId xmlns:a16="http://schemas.microsoft.com/office/drawing/2014/main" id="{FB30C282-8CEE-4A1E-B3BB-906917F6BF47}"/>
              </a:ext>
            </a:extLst>
          </p:cNvPr>
          <p:cNvSpPr>
            <a:spLocks xmlns:a="http://schemas.openxmlformats.org/drawingml/2006/main" noGrp="1"/>
          </p:cNvSpPr>
          <p:nvPr/>
        </p:nvSpPr>
        <p:spPr>
          <a:xfrm xmlns:a="http://schemas.openxmlformats.org/drawingml/2006/main">
            <a:off x="742950" y="5619750"/>
            <a:ext cx="6000750" cy="3381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16130F"/>
                </a:solidFill>
                <a:latin typeface="IBM Plex Sans"/>
                <a:ea typeface="IBM Plex Sans"/>
                <a:cs typeface="IBM Plex Sans"/>
              </a:defRPr>
            </a:pPr>
            <a:r>
              <a:rPr sz="1875" b="0">
                <a:solidFill>
                  <a:srgbClr val="16130F"/>
                </a:solidFill>
                <a:latin typeface="IBM Plex Sans"/>
                <a:ea typeface="IBM Plex Sans"/>
                <a:cs typeface="IBM Plex Sans"/>
              </a:rPr>
              <a:t>Maximum resale price</a:t>
            </a:r>
          </a:p>
        </p:txBody>
      </p:sp>
      <p:sp>
        <p:nvSpPr>
          <p:cNvPr id="9" name="text-3-8">
            <a:extLst xmlns:a="http://schemas.openxmlformats.org/drawingml/2006/main">
              <a:ext uri="{FF2B5EF4-FFF2-40B4-BE49-F238E27FC236}">
                <a16:creationId xmlns:a16="http://schemas.microsoft.com/office/drawing/2014/main" id="{2897A537-6D5A-46AB-8D24-56ED598F2CD9}"/>
              </a:ext>
            </a:extLst>
          </p:cNvPr>
          <p:cNvSpPr>
            <a:spLocks xmlns:a="http://schemas.openxmlformats.org/drawingml/2006/main" noGrp="1"/>
          </p:cNvSpPr>
          <p:nvPr/>
        </p:nvSpPr>
        <p:spPr>
          <a:xfrm xmlns:a="http://schemas.openxmlformats.org/drawingml/2006/main">
            <a:off x="7524750" y="4305300"/>
            <a:ext cx="396240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16130F"/>
                </a:solidFill>
                <a:latin typeface="IBM Plex Mono"/>
                <a:ea typeface="IBM Plex Mono"/>
                <a:cs typeface="IBM Plex Mono"/>
              </a:defRPr>
            </a:pPr>
            <a:r>
              <a:rPr sz="2025" b="0">
                <a:solidFill>
                  <a:srgbClr val="16130F"/>
                </a:solidFill>
                <a:latin typeface="IBM Plex Mono"/>
                <a:ea typeface="IBM Plex Mono"/>
                <a:cs typeface="IBM Plex Mono"/>
              </a:rPr>
              <a:t>€25.00 face price</a:t>
            </a:r>
          </a:p>
        </p:txBody>
      </p:sp>
      <p:sp>
        <p:nvSpPr>
          <p:cNvPr id="10" name="text-3-9">
            <a:extLst xmlns:a="http://schemas.openxmlformats.org/drawingml/2006/main">
              <a:ext uri="{FF2B5EF4-FFF2-40B4-BE49-F238E27FC236}">
                <a16:creationId xmlns:a16="http://schemas.microsoft.com/office/drawing/2014/main" id="{509B2EBC-7F3D-4A4C-854D-B5FAC393A2D4}"/>
              </a:ext>
            </a:extLst>
          </p:cNvPr>
          <p:cNvSpPr>
            <a:spLocks xmlns:a="http://schemas.openxmlformats.org/drawingml/2006/main" noGrp="1"/>
          </p:cNvSpPr>
          <p:nvPr/>
        </p:nvSpPr>
        <p:spPr>
          <a:xfrm xmlns:a="http://schemas.openxmlformats.org/drawingml/2006/main">
            <a:off x="7524750" y="4678204"/>
            <a:ext cx="396240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16130F"/>
                </a:solidFill>
                <a:latin typeface="IBM Plex Mono"/>
                <a:ea typeface="IBM Plex Mono"/>
                <a:cs typeface="IBM Plex Mono"/>
              </a:defRPr>
            </a:pPr>
            <a:r>
              <a:rPr sz="2025" b="0">
                <a:solidFill>
                  <a:srgbClr val="16130F"/>
                </a:solidFill>
                <a:latin typeface="IBM Plex Mono"/>
                <a:ea typeface="IBM Plex Mono"/>
                <a:cs typeface="IBM Plex Mono"/>
              </a:rPr>
              <a:t>10% permitted increase</a:t>
            </a:r>
          </a:p>
        </p:txBody>
      </p:sp>
      <p:sp>
        <p:nvSpPr>
          <p:cNvPr id="11" name="text-3-10">
            <a:extLst xmlns:a="http://schemas.openxmlformats.org/drawingml/2006/main">
              <a:ext uri="{FF2B5EF4-FFF2-40B4-BE49-F238E27FC236}">
                <a16:creationId xmlns:a16="http://schemas.microsoft.com/office/drawing/2014/main" id="{510BA1D2-DADF-43C6-A312-3669FB0E6D02}"/>
              </a:ext>
            </a:extLst>
          </p:cNvPr>
          <p:cNvSpPr>
            <a:spLocks xmlns:a="http://schemas.openxmlformats.org/drawingml/2006/main" noGrp="1"/>
          </p:cNvSpPr>
          <p:nvPr/>
        </p:nvSpPr>
        <p:spPr>
          <a:xfrm xmlns:a="http://schemas.openxmlformats.org/drawingml/2006/main">
            <a:off x="7524750" y="5051108"/>
            <a:ext cx="396240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16130F"/>
                </a:solidFill>
                <a:latin typeface="IBM Plex Mono"/>
                <a:ea typeface="IBM Plex Mono"/>
                <a:cs typeface="IBM Plex Mono"/>
              </a:defRPr>
            </a:pPr>
            <a:r>
              <a:rPr sz="2025" b="0">
                <a:solidFill>
                  <a:srgbClr val="16130F"/>
                </a:solidFill>
                <a:latin typeface="IBM Plex Mono"/>
                <a:ea typeface="IBM Plex Mono"/>
                <a:cs typeface="IBM Plex Mono"/>
              </a:rPr>
              <a:t>5% organizer royalty</a:t>
            </a:r>
          </a:p>
        </p:txBody>
      </p:sp>
    </p:spTree>
    <p:extLst>
      <p:ext uri="{BB962C8B-B14F-4D97-AF65-F5344CB8AC3E}">
        <p14:creationId xmlns:p14="http://schemas.microsoft.com/office/powerpoint/2010/main" val="281634827"/>
      </p:ext>
    </p:extLst>
  </p:cSld>
</p:sld>
</file>

<file path=ppt/slides/slide4.xml><?xml version="1.0" encoding="utf-8"?>
<p:sld xmlns:p="http://schemas.openxmlformats.org/presentationml/2006/main">
  <p:cSld>
    <p:bg>
      <p:bgPr>
        <a:solidFill xmlns:a="http://schemas.openxmlformats.org/drawingml/2006/main">
          <a:srgbClr val="F3EFE6"/>
        </a:solidFill>
      </p:bgPr>
    </p:bg>
    <p:spTree>
      <p:nvGrpSpPr>
        <p:cNvPr id="1" name=""/>
        <p:cNvGrpSpPr/>
        <p:nvPr/>
      </p:nvGrpSpPr>
      <p:grpSpPr>
        <a:xfrm xmlns:a="http://schemas.openxmlformats.org/drawingml/2006/main"/>
      </p:grpSpPr>
      <p:sp>
        <p:nvSpPr>
          <p:cNvPr id="14" name="text-4-0">
            <a:extLst xmlns:a="http://schemas.openxmlformats.org/drawingml/2006/main">
              <a:ext uri="{FF2B5EF4-FFF2-40B4-BE49-F238E27FC236}">
                <a16:creationId xmlns:a16="http://schemas.microsoft.com/office/drawing/2014/main" id="{BAD979BA-5868-4AD0-92C2-9362B1863400}"/>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04</a:t>
            </a:r>
          </a:p>
        </p:txBody>
      </p:sp>
      <p:sp>
        <p:nvSpPr>
          <p:cNvPr id="2" name="text-4-1">
            <a:extLst xmlns:a="http://schemas.openxmlformats.org/drawingml/2006/main">
              <a:ext uri="{FF2B5EF4-FFF2-40B4-BE49-F238E27FC236}">
                <a16:creationId xmlns:a16="http://schemas.microsoft.com/office/drawing/2014/main" id="{F611DB04-CB1A-47CA-8868-B0ABAE768A18}"/>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B554C"/>
                </a:solidFill>
                <a:latin typeface="IBM Plex Sans"/>
                <a:ea typeface="IBM Plex Sans"/>
                <a:cs typeface="IBM Plex Sans"/>
              </a:defRPr>
            </a:pPr>
            <a:r>
              <a:rPr sz="1650" b="0">
                <a:solidFill>
                  <a:srgbClr val="5B554C"/>
                </a:solidFill>
                <a:latin typeface="IBM Plex Sans"/>
                <a:ea typeface="IBM Plex Sans"/>
                <a:cs typeface="IBM Plex Sans"/>
              </a:rPr>
              <a:t>The technical solution</a:t>
            </a:r>
          </a:p>
        </p:txBody>
      </p:sp>
      <p:sp>
        <p:nvSpPr>
          <p:cNvPr id="3" name="text-4-2">
            <a:extLst xmlns:a="http://schemas.openxmlformats.org/drawingml/2006/main">
              <a:ext uri="{FF2B5EF4-FFF2-40B4-BE49-F238E27FC236}">
                <a16:creationId xmlns:a16="http://schemas.microsoft.com/office/drawing/2014/main" id="{B437B44C-D145-4772-84F2-AB51F10E98FC}"/>
              </a:ext>
            </a:extLst>
          </p:cNvPr>
          <p:cNvSpPr>
            <a:spLocks xmlns:a="http://schemas.openxmlformats.org/drawingml/2006/main" noGrp="1"/>
          </p:cNvSpPr>
          <p:nvPr/>
        </p:nvSpPr>
        <p:spPr>
          <a:xfrm xmlns:a="http://schemas.openxmlformats.org/drawingml/2006/main">
            <a:off x="685800" y="1057275"/>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Solana checks every</a:t>
            </a:r>
          </a:p>
        </p:txBody>
      </p:sp>
      <p:sp>
        <p:nvSpPr>
          <p:cNvPr id="4" name="text-4-3">
            <a:extLst xmlns:a="http://schemas.openxmlformats.org/drawingml/2006/main">
              <a:ext uri="{FF2B5EF4-FFF2-40B4-BE49-F238E27FC236}">
                <a16:creationId xmlns:a16="http://schemas.microsoft.com/office/drawing/2014/main" id="{19498669-43D5-4E7F-B8C4-2131A857EA4A}"/>
              </a:ext>
            </a:extLst>
          </p:cNvPr>
          <p:cNvSpPr>
            <a:spLocks xmlns:a="http://schemas.openxmlformats.org/drawingml/2006/main" noGrp="1"/>
          </p:cNvSpPr>
          <p:nvPr/>
        </p:nvSpPr>
        <p:spPr>
          <a:xfrm xmlns:a="http://schemas.openxmlformats.org/drawingml/2006/main">
            <a:off x="685800" y="1653921"/>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ticket transfer</a:t>
            </a:r>
          </a:p>
        </p:txBody>
      </p:sp>
      <p:sp>
        <p:nvSpPr>
          <p:cNvPr id="5" name="text-4-4">
            <a:extLst xmlns:a="http://schemas.openxmlformats.org/drawingml/2006/main">
              <a:ext uri="{FF2B5EF4-FFF2-40B4-BE49-F238E27FC236}">
                <a16:creationId xmlns:a16="http://schemas.microsoft.com/office/drawing/2014/main" id="{749AEEE0-4D23-4F30-9214-EDB76642448A}"/>
              </a:ext>
            </a:extLst>
          </p:cNvPr>
          <p:cNvSpPr>
            <a:spLocks xmlns:a="http://schemas.openxmlformats.org/drawingml/2006/main" noGrp="1"/>
          </p:cNvSpPr>
          <p:nvPr/>
        </p:nvSpPr>
        <p:spPr>
          <a:xfrm xmlns:a="http://schemas.openxmlformats.org/drawingml/2006/main">
            <a:off x="685800" y="2762250"/>
            <a:ext cx="6381750" cy="4598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550" b="1">
                <a:solidFill>
                  <a:srgbClr val="16130F"/>
                </a:solidFill>
                <a:latin typeface="Archivo"/>
                <a:ea typeface="Archivo"/>
                <a:cs typeface="Archivo"/>
              </a:defRPr>
            </a:pPr>
            <a:r>
              <a:rPr sz="2550" b="1">
                <a:solidFill>
                  <a:srgbClr val="16130F"/>
                </a:solidFill>
                <a:latin typeface="Archivo"/>
                <a:ea typeface="Archivo"/>
                <a:cs typeface="Archivo"/>
              </a:rPr>
              <a:t>Token-2022 transfer hook</a:t>
            </a:r>
          </a:p>
        </p:txBody>
      </p:sp>
      <p:sp>
        <p:nvSpPr>
          <p:cNvPr id="6" name="text-4-5">
            <a:extLst xmlns:a="http://schemas.openxmlformats.org/drawingml/2006/main">
              <a:ext uri="{FF2B5EF4-FFF2-40B4-BE49-F238E27FC236}">
                <a16:creationId xmlns:a16="http://schemas.microsoft.com/office/drawing/2014/main" id="{E05D2936-3061-420E-B9F5-DF716E7725D2}"/>
              </a:ext>
            </a:extLst>
          </p:cNvPr>
          <p:cNvSpPr>
            <a:spLocks xmlns:a="http://schemas.openxmlformats.org/drawingml/2006/main" noGrp="1"/>
          </p:cNvSpPr>
          <p:nvPr/>
        </p:nvSpPr>
        <p:spPr>
          <a:xfrm xmlns:a="http://schemas.openxmlformats.org/drawingml/2006/main">
            <a:off x="685800" y="3419475"/>
            <a:ext cx="681037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16130F"/>
                </a:solidFill>
                <a:latin typeface="IBM Plex Sans"/>
                <a:ea typeface="IBM Plex Sans"/>
                <a:cs typeface="IBM Plex Sans"/>
              </a:defRPr>
            </a:pPr>
            <a:r>
              <a:rPr sz="2100" b="0">
                <a:solidFill>
                  <a:srgbClr val="16130F"/>
                </a:solidFill>
                <a:latin typeface="IBM Plex Sans"/>
                <a:ea typeface="IBM Plex Sans"/>
                <a:cs typeface="IBM Plex Sans"/>
              </a:rPr>
              <a:t>Solana calls our hook whenever a ticket moves.</a:t>
            </a:r>
          </a:p>
        </p:txBody>
      </p:sp>
      <p:sp>
        <p:nvSpPr>
          <p:cNvPr id="7" name="text-4-6">
            <a:extLst xmlns:a="http://schemas.openxmlformats.org/drawingml/2006/main">
              <a:ext uri="{FF2B5EF4-FFF2-40B4-BE49-F238E27FC236}">
                <a16:creationId xmlns:a16="http://schemas.microsoft.com/office/drawing/2014/main" id="{30CD7D1C-6BAE-4E5A-AB53-F32405357DB2}"/>
              </a:ext>
            </a:extLst>
          </p:cNvPr>
          <p:cNvSpPr>
            <a:spLocks xmlns:a="http://schemas.openxmlformats.org/drawingml/2006/main" noGrp="1"/>
          </p:cNvSpPr>
          <p:nvPr/>
        </p:nvSpPr>
        <p:spPr>
          <a:xfrm xmlns:a="http://schemas.openxmlformats.org/drawingml/2006/main">
            <a:off x="685800" y="3760851"/>
            <a:ext cx="681037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16130F"/>
                </a:solidFill>
                <a:latin typeface="IBM Plex Sans"/>
                <a:ea typeface="IBM Plex Sans"/>
                <a:cs typeface="IBM Plex Sans"/>
              </a:defRPr>
            </a:pPr>
            <a:r>
              <a:rPr sz="2100" b="0">
                <a:solidFill>
                  <a:srgbClr val="16130F"/>
                </a:solidFill>
                <a:latin typeface="IBM Plex Sans"/>
                <a:ea typeface="IBM Plex Sans"/>
                <a:cs typeface="IBM Plex Sans"/>
              </a:rPr>
              <a:t>The hook accepts only a valid marketplace escrow.</a:t>
            </a:r>
          </a:p>
        </p:txBody>
      </p:sp>
      <p:sp>
        <p:nvSpPr>
          <p:cNvPr id="8" name="text-4-7">
            <a:extLst xmlns:a="http://schemas.openxmlformats.org/drawingml/2006/main">
              <a:ext uri="{FF2B5EF4-FFF2-40B4-BE49-F238E27FC236}">
                <a16:creationId xmlns:a16="http://schemas.microsoft.com/office/drawing/2014/main" id="{FFA5B7AA-0C8B-48A9-8052-8ECCE366D884}"/>
              </a:ext>
            </a:extLst>
          </p:cNvPr>
          <p:cNvSpPr>
            <a:spLocks xmlns:a="http://schemas.openxmlformats.org/drawingml/2006/main" noGrp="1"/>
          </p:cNvSpPr>
          <p:nvPr/>
        </p:nvSpPr>
        <p:spPr>
          <a:xfrm xmlns:a="http://schemas.openxmlformats.org/drawingml/2006/main">
            <a:off x="685800" y="4102227"/>
            <a:ext cx="681037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16130F"/>
                </a:solidFill>
                <a:latin typeface="IBM Plex Sans"/>
                <a:ea typeface="IBM Plex Sans"/>
                <a:cs typeface="IBM Plex Sans"/>
              </a:defRPr>
            </a:pPr>
            <a:r>
              <a:rPr sz="2100" b="0">
                <a:solidFill>
                  <a:srgbClr val="16130F"/>
                </a:solidFill>
                <a:latin typeface="IBM Plex Sans"/>
                <a:ea typeface="IBM Plex Sans"/>
                <a:cs typeface="IBM Plex Sans"/>
              </a:rPr>
              <a:t>The program releases the ticket on a sale</a:t>
            </a:r>
          </a:p>
        </p:txBody>
      </p:sp>
      <p:sp>
        <p:nvSpPr>
          <p:cNvPr id="9" name="text-4-8">
            <a:extLst xmlns:a="http://schemas.openxmlformats.org/drawingml/2006/main">
              <a:ext uri="{FF2B5EF4-FFF2-40B4-BE49-F238E27FC236}">
                <a16:creationId xmlns:a16="http://schemas.microsoft.com/office/drawing/2014/main" id="{CCB14DAC-ED26-4F2D-8C4F-71F0E84F3CFA}"/>
              </a:ext>
            </a:extLst>
          </p:cNvPr>
          <p:cNvSpPr>
            <a:spLocks xmlns:a="http://schemas.openxmlformats.org/drawingml/2006/main" noGrp="1"/>
          </p:cNvSpPr>
          <p:nvPr/>
        </p:nvSpPr>
        <p:spPr>
          <a:xfrm xmlns:a="http://schemas.openxmlformats.org/drawingml/2006/main">
            <a:off x="685800" y="4443603"/>
            <a:ext cx="681037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16130F"/>
                </a:solidFill>
                <a:latin typeface="IBM Plex Sans"/>
                <a:ea typeface="IBM Plex Sans"/>
                <a:cs typeface="IBM Plex Sans"/>
              </a:defRPr>
            </a:pPr>
            <a:r>
              <a:rPr sz="2100" b="0">
                <a:solidFill>
                  <a:srgbClr val="16130F"/>
                </a:solidFill>
                <a:latin typeface="IBM Plex Sans"/>
                <a:ea typeface="IBM Plex Sans"/>
                <a:cs typeface="IBM Plex Sans"/>
              </a:rPr>
              <a:t>or returns it when the seller cancels.</a:t>
            </a:r>
          </a:p>
        </p:txBody>
      </p:sp>
      <p:sp>
        <p:nvSpPr>
          <p:cNvPr id="10" name="text-4-9">
            <a:extLst xmlns:a="http://schemas.openxmlformats.org/drawingml/2006/main">
              <a:ext uri="{FF2B5EF4-FFF2-40B4-BE49-F238E27FC236}">
                <a16:creationId xmlns:a16="http://schemas.microsoft.com/office/drawing/2014/main" id="{FA7F11D9-8FE0-4E9F-8DC8-BBF26F4CD04A}"/>
              </a:ext>
            </a:extLst>
          </p:cNvPr>
          <p:cNvSpPr>
            <a:spLocks xmlns:a="http://schemas.openxmlformats.org/drawingml/2006/main" noGrp="1"/>
          </p:cNvSpPr>
          <p:nvPr/>
        </p:nvSpPr>
        <p:spPr>
          <a:xfrm xmlns:a="http://schemas.openxmlformats.org/drawingml/2006/main">
            <a:off x="8124825" y="2962275"/>
            <a:ext cx="3381375" cy="635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1">
                <a:solidFill>
                  <a:srgbClr val="FF4A1C"/>
                </a:solidFill>
                <a:latin typeface="Archivo"/>
                <a:ea typeface="Archivo"/>
                <a:cs typeface="Archivo"/>
              </a:defRPr>
            </a:pPr>
            <a:r>
              <a:rPr sz="3525" b="1">
                <a:solidFill>
                  <a:srgbClr val="FF4A1C"/>
                </a:solidFill>
                <a:latin typeface="Archivo"/>
                <a:ea typeface="Archivo"/>
                <a:cs typeface="Archivo"/>
              </a:rPr>
              <a:t>A signed</a:t>
            </a:r>
          </a:p>
        </p:txBody>
      </p:sp>
      <p:sp>
        <p:nvSpPr>
          <p:cNvPr id="11" name="text-4-10">
            <a:extLst xmlns:a="http://schemas.openxmlformats.org/drawingml/2006/main">
              <a:ext uri="{FF2B5EF4-FFF2-40B4-BE49-F238E27FC236}">
                <a16:creationId xmlns:a16="http://schemas.microsoft.com/office/drawing/2014/main" id="{E16531EC-330F-4D58-BB3B-23B439927412}"/>
              </a:ext>
            </a:extLst>
          </p:cNvPr>
          <p:cNvSpPr>
            <a:spLocks xmlns:a="http://schemas.openxmlformats.org/drawingml/2006/main" noGrp="1"/>
          </p:cNvSpPr>
          <p:nvPr/>
        </p:nvSpPr>
        <p:spPr>
          <a:xfrm xmlns:a="http://schemas.openxmlformats.org/drawingml/2006/main">
            <a:off x="8124825" y="3445764"/>
            <a:ext cx="3381375" cy="635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1">
                <a:solidFill>
                  <a:srgbClr val="FF4A1C"/>
                </a:solidFill>
                <a:latin typeface="Archivo"/>
                <a:ea typeface="Archivo"/>
                <a:cs typeface="Archivo"/>
              </a:defRPr>
            </a:pPr>
            <a:r>
              <a:rPr sz="3525" b="1">
                <a:solidFill>
                  <a:srgbClr val="FF4A1C"/>
                </a:solidFill>
                <a:latin typeface="Archivo"/>
                <a:ea typeface="Archivo"/>
                <a:cs typeface="Archivo"/>
              </a:rPr>
              <a:t>direct transfer</a:t>
            </a:r>
          </a:p>
        </p:txBody>
      </p:sp>
      <p:sp>
        <p:nvSpPr>
          <p:cNvPr id="12" name="text-4-11">
            <a:extLst xmlns:a="http://schemas.openxmlformats.org/drawingml/2006/main">
              <a:ext uri="{FF2B5EF4-FFF2-40B4-BE49-F238E27FC236}">
                <a16:creationId xmlns:a16="http://schemas.microsoft.com/office/drawing/2014/main" id="{BDAC0F70-32F1-480E-9139-ED222913FE29}"/>
              </a:ext>
            </a:extLst>
          </p:cNvPr>
          <p:cNvSpPr>
            <a:spLocks xmlns:a="http://schemas.openxmlformats.org/drawingml/2006/main" noGrp="1"/>
          </p:cNvSpPr>
          <p:nvPr/>
        </p:nvSpPr>
        <p:spPr>
          <a:xfrm xmlns:a="http://schemas.openxmlformats.org/drawingml/2006/main">
            <a:off x="8124825" y="3929253"/>
            <a:ext cx="3381375" cy="635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525" b="1">
                <a:solidFill>
                  <a:srgbClr val="FF4A1C"/>
                </a:solidFill>
                <a:latin typeface="Archivo"/>
                <a:ea typeface="Archivo"/>
                <a:cs typeface="Archivo"/>
              </a:defRPr>
            </a:pPr>
            <a:r>
              <a:rPr sz="3525" b="1">
                <a:solidFill>
                  <a:srgbClr val="FF4A1C"/>
                </a:solidFill>
                <a:latin typeface="Archivo"/>
                <a:ea typeface="Archivo"/>
                <a:cs typeface="Archivo"/>
              </a:rPr>
              <a:t>fails</a:t>
            </a:r>
          </a:p>
        </p:txBody>
      </p:sp>
      <p:sp>
        <p:nvSpPr>
          <p:cNvPr id="13" name="text-4-12">
            <a:extLst xmlns:a="http://schemas.openxmlformats.org/drawingml/2006/main">
              <a:ext uri="{FF2B5EF4-FFF2-40B4-BE49-F238E27FC236}">
                <a16:creationId xmlns:a16="http://schemas.microsoft.com/office/drawing/2014/main" id="{DF645A91-E815-4A36-A7C8-2443A90529F7}"/>
              </a:ext>
            </a:extLst>
          </p:cNvPr>
          <p:cNvSpPr>
            <a:spLocks xmlns:a="http://schemas.openxmlformats.org/drawingml/2006/main" noGrp="1"/>
          </p:cNvSpPr>
          <p:nvPr/>
        </p:nvSpPr>
        <p:spPr>
          <a:xfrm xmlns:a="http://schemas.openxmlformats.org/drawingml/2006/main">
            <a:off x="685800" y="6134100"/>
            <a:ext cx="97155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B554C"/>
                </a:solidFill>
                <a:latin typeface="IBM Plex Sans"/>
                <a:ea typeface="IBM Plex Sans"/>
                <a:cs typeface="IBM Plex Sans"/>
              </a:defRPr>
            </a:pPr>
            <a:r>
              <a:rPr sz="1650" b="0" u="sng">
                <a:solidFill>
                  <a:srgbClr val="5B554C"/>
                </a:solidFill>
                <a:latin typeface="IBM Plex Sans"/>
                <a:ea typeface="IBM Plex Sans"/>
                <a:cs typeface="IBM Plex Sans"/>
                <a:hlinkClick xmlns:r="http://schemas.openxmlformats.org/officeDocument/2006/relationships" r:id="Rd9b989c2fcf649a1"/>
              </a:rPr>
              <a:t>Token-2022 Transfer Hook documentation</a:t>
            </a:r>
          </a:p>
        </p:txBody>
      </p:sp>
    </p:spTree>
    <p:extLst>
      <p:ext uri="{BB962C8B-B14F-4D97-AF65-F5344CB8AC3E}">
        <p14:creationId xmlns:p14="http://schemas.microsoft.com/office/powerpoint/2010/main" val="1515739800"/>
      </p:ext>
    </p:extLst>
  </p:cSld>
</p:sld>
</file>

<file path=ppt/slides/slide5.xml><?xml version="1.0" encoding="utf-8"?>
<p:sld xmlns:p="http://schemas.openxmlformats.org/presentationml/2006/main">
  <p:cSld>
    <p:bg>
      <p:bgPr>
        <a:solidFill xmlns:a="http://schemas.openxmlformats.org/drawingml/2006/main">
          <a:srgbClr val="F3EFE6"/>
        </a:solidFill>
      </p:bgPr>
    </p:bg>
    <p:spTree>
      <p:nvGrpSpPr>
        <p:cNvPr id="1" name=""/>
        <p:cNvGrpSpPr/>
        <p:nvPr/>
      </p:nvGrpSpPr>
      <p:grpSpPr>
        <a:xfrm xmlns:a="http://schemas.openxmlformats.org/drawingml/2006/main"/>
      </p:grpSpPr>
      <p:sp>
        <p:nvSpPr>
          <p:cNvPr id="10" name="text-5-0">
            <a:extLst xmlns:a="http://schemas.openxmlformats.org/drawingml/2006/main">
              <a:ext uri="{FF2B5EF4-FFF2-40B4-BE49-F238E27FC236}">
                <a16:creationId xmlns:a16="http://schemas.microsoft.com/office/drawing/2014/main" id="{3B1EDE05-F571-459F-A0FC-4C21160E5EF5}"/>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05</a:t>
            </a:r>
          </a:p>
        </p:txBody>
      </p:sp>
      <p:sp>
        <p:nvSpPr>
          <p:cNvPr id="2" name="text-5-1">
            <a:extLst xmlns:a="http://schemas.openxmlformats.org/drawingml/2006/main">
              <a:ext uri="{FF2B5EF4-FFF2-40B4-BE49-F238E27FC236}">
                <a16:creationId xmlns:a16="http://schemas.microsoft.com/office/drawing/2014/main" id="{C6B692F4-4081-4A69-9D1C-3D3BFEF3D776}"/>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B554C"/>
                </a:solidFill>
                <a:latin typeface="IBM Plex Sans"/>
                <a:ea typeface="IBM Plex Sans"/>
                <a:cs typeface="IBM Plex Sans"/>
              </a:defRPr>
            </a:pPr>
            <a:r>
              <a:rPr sz="1650" b="0">
                <a:solidFill>
                  <a:srgbClr val="5B554C"/>
                </a:solidFill>
                <a:latin typeface="IBM Plex Sans"/>
                <a:ea typeface="IBM Plex Sans"/>
                <a:cs typeface="IBM Plex Sans"/>
              </a:rPr>
              <a:t>Payment and delivery</a:t>
            </a:r>
          </a:p>
        </p:txBody>
      </p:sp>
      <p:sp>
        <p:nvSpPr>
          <p:cNvPr id="3" name="text-5-2">
            <a:extLst xmlns:a="http://schemas.openxmlformats.org/drawingml/2006/main">
              <a:ext uri="{FF2B5EF4-FFF2-40B4-BE49-F238E27FC236}">
                <a16:creationId xmlns:a16="http://schemas.microsoft.com/office/drawing/2014/main" id="{84228A9D-A4CD-43A6-8519-33433DF50DB2}"/>
              </a:ext>
            </a:extLst>
          </p:cNvPr>
          <p:cNvSpPr>
            <a:spLocks xmlns:a="http://schemas.openxmlformats.org/drawingml/2006/main" noGrp="1"/>
          </p:cNvSpPr>
          <p:nvPr/>
        </p:nvSpPr>
        <p:spPr>
          <a:xfrm xmlns:a="http://schemas.openxmlformats.org/drawingml/2006/main">
            <a:off x="685800" y="1057275"/>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The resale settles</a:t>
            </a:r>
          </a:p>
        </p:txBody>
      </p:sp>
      <p:sp>
        <p:nvSpPr>
          <p:cNvPr id="4" name="text-5-3">
            <a:extLst xmlns:a="http://schemas.openxmlformats.org/drawingml/2006/main">
              <a:ext uri="{FF2B5EF4-FFF2-40B4-BE49-F238E27FC236}">
                <a16:creationId xmlns:a16="http://schemas.microsoft.com/office/drawing/2014/main" id="{63AE2D54-0B86-4C25-81AF-5DDA843B400E}"/>
              </a:ext>
            </a:extLst>
          </p:cNvPr>
          <p:cNvSpPr>
            <a:spLocks xmlns:a="http://schemas.openxmlformats.org/drawingml/2006/main" noGrp="1"/>
          </p:cNvSpPr>
          <p:nvPr/>
        </p:nvSpPr>
        <p:spPr>
          <a:xfrm xmlns:a="http://schemas.openxmlformats.org/drawingml/2006/main">
            <a:off x="685800" y="1653921"/>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16130F"/>
                </a:solidFill>
                <a:latin typeface="Archivo"/>
                <a:ea typeface="Archivo"/>
                <a:cs typeface="Archivo"/>
              </a:defRPr>
            </a:pPr>
            <a:r>
              <a:rPr sz="4350" b="1">
                <a:solidFill>
                  <a:srgbClr val="16130F"/>
                </a:solidFill>
                <a:latin typeface="Archivo"/>
                <a:ea typeface="Archivo"/>
                <a:cs typeface="Archivo"/>
              </a:rPr>
              <a:t>in one transaction</a:t>
            </a:r>
          </a:p>
        </p:txBody>
      </p:sp>
      <p:sp>
        <p:nvSpPr>
          <p:cNvPr id="5" name="text-5-4">
            <a:extLst xmlns:a="http://schemas.openxmlformats.org/drawingml/2006/main">
              <a:ext uri="{FF2B5EF4-FFF2-40B4-BE49-F238E27FC236}">
                <a16:creationId xmlns:a16="http://schemas.microsoft.com/office/drawing/2014/main" id="{C95A242F-9BF9-4721-B29F-7BAFEA5652EA}"/>
              </a:ext>
            </a:extLst>
          </p:cNvPr>
          <p:cNvSpPr>
            <a:spLocks xmlns:a="http://schemas.openxmlformats.org/drawingml/2006/main" noGrp="1"/>
          </p:cNvSpPr>
          <p:nvPr/>
        </p:nvSpPr>
        <p:spPr>
          <a:xfrm xmlns:a="http://schemas.openxmlformats.org/drawingml/2006/main">
            <a:off x="685800" y="2781300"/>
            <a:ext cx="504825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16130F"/>
                </a:solidFill>
                <a:latin typeface="IBM Plex Sans"/>
                <a:ea typeface="IBM Plex Sans"/>
                <a:cs typeface="IBM Plex Sans"/>
              </a:defRPr>
            </a:pPr>
            <a:r>
              <a:rPr sz="1950" b="0">
                <a:solidFill>
                  <a:srgbClr val="16130F"/>
                </a:solidFill>
                <a:latin typeface="IBM Plex Sans"/>
                <a:ea typeface="IBM Plex Sans"/>
                <a:cs typeface="IBM Plex Sans"/>
              </a:rPr>
              <a:t>Buyer pays</a:t>
            </a:r>
          </a:p>
        </p:txBody>
      </p:sp>
      <p:sp>
        <p:nvSpPr>
          <p:cNvPr id="6" name="text-5-5">
            <a:extLst xmlns:a="http://schemas.openxmlformats.org/drawingml/2006/main">
              <a:ext uri="{FF2B5EF4-FFF2-40B4-BE49-F238E27FC236}">
                <a16:creationId xmlns:a16="http://schemas.microsoft.com/office/drawing/2014/main" id="{098FC10A-977C-4F3E-8B44-C11FB14C2A38}"/>
              </a:ext>
            </a:extLst>
          </p:cNvPr>
          <p:cNvSpPr>
            <a:spLocks xmlns:a="http://schemas.openxmlformats.org/drawingml/2006/main" noGrp="1"/>
          </p:cNvSpPr>
          <p:nvPr/>
        </p:nvSpPr>
        <p:spPr>
          <a:xfrm xmlns:a="http://schemas.openxmlformats.org/drawingml/2006/main">
            <a:off x="685800" y="3295650"/>
            <a:ext cx="6305550" cy="1677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300" b="0">
                <a:solidFill>
                  <a:srgbClr val="FF4A1C"/>
                </a:solidFill>
                <a:latin typeface="IBM Plex Mono"/>
                <a:ea typeface="IBM Plex Mono"/>
                <a:cs typeface="IBM Plex Mono"/>
              </a:defRPr>
            </a:pPr>
            <a:r>
              <a:rPr sz="9300" b="0">
                <a:solidFill>
                  <a:srgbClr val="FF4A1C"/>
                </a:solidFill>
                <a:latin typeface="IBM Plex Mono"/>
                <a:ea typeface="IBM Plex Mono"/>
                <a:cs typeface="IBM Plex Mono"/>
              </a:rPr>
              <a:t>€27.50</a:t>
            </a:r>
          </a:p>
        </p:txBody>
      </p:sp>
      <p:graphicFrame>
        <p:nvGraphicFramePr>
          <p:cNvPr id="16" name=""/>
          <p:cNvGraphicFramePr/>
          <p:nvPr/>
        </p:nvGraphicFramePr>
        <p:xfrm>
          <a:off xmlns:a="http://schemas.openxmlformats.org/drawingml/2006/main" x="7239000" y="2952750"/>
          <a:ext xmlns:a="http://schemas.openxmlformats.org/drawingml/2006/main" cx="4267200" cy="2057400"/>
        </p:xfrm>
        <a:graphic xmlns:a="http://schemas.openxmlformats.org/drawingml/2006/main">
          <a:graphicData uri="http://schemas.openxmlformats.org/drawingml/2006/table">
            <a:tbl>
              <a:tblPr firstRow="0" bandRow="0"/>
              <a:tblGrid>
                <a:gridCol w="2647950"/>
                <a:gridCol w="1619250"/>
              </a:tblGrid>
              <a:tr h="685800">
                <a:tc>
                  <a:txBody>
                    <a:bodyPr/>
                    <a:lstStyle/>
                    <a:p>
                      <a:r>
                        <a:rPr sz="2100">
                          <a:solidFill>
                            <a:srgbClr val="16130F"/>
                          </a:solidFill>
                          <a:latin typeface="IBM Plex Sans"/>
                          <a:ea typeface="IBM Plex Sans"/>
                          <a:cs typeface="IBM Plex Sans"/>
                        </a:rPr>
                        <a:t>Seller</a:t>
                      </a:r>
                    </a:p>
                  </a:txBody>
                  <a:tcPr marL="0" marR="0" marT="180975" marB="95250">
                    <a:solidFill>
                      <a:srgbClr val="F3EFE6"/>
                    </a:solidFill>
                  </a:tcPr>
                </a:tc>
                <a:tc>
                  <a:txBody>
                    <a:bodyPr/>
                    <a:lstStyle/>
                    <a:p>
                      <a:r>
                        <a:rPr sz="2100">
                          <a:solidFill>
                            <a:srgbClr val="16130F"/>
                          </a:solidFill>
                          <a:latin typeface="IBM Plex Sans"/>
                          <a:ea typeface="IBM Plex Sans"/>
                          <a:cs typeface="IBM Plex Sans"/>
                        </a:rPr>
                        <a:t>€25.58</a:t>
                      </a:r>
                    </a:p>
                  </a:txBody>
                  <a:tcPr marL="0" marR="0" marT="180975" marB="95250">
                    <a:solidFill>
                      <a:srgbClr val="F3EFE6"/>
                    </a:solidFill>
                  </a:tcPr>
                </a:tc>
              </a:tr>
              <a:tr h="685800">
                <a:tc>
                  <a:txBody>
                    <a:bodyPr/>
                    <a:lstStyle/>
                    <a:p>
                      <a:r>
                        <a:rPr sz="2100">
                          <a:solidFill>
                            <a:srgbClr val="16130F"/>
                          </a:solidFill>
                          <a:latin typeface="IBM Plex Sans"/>
                          <a:ea typeface="IBM Plex Sans"/>
                          <a:cs typeface="IBM Plex Sans"/>
                        </a:rPr>
                        <a:t>Organizer (5%)</a:t>
                      </a:r>
                    </a:p>
                  </a:txBody>
                  <a:tcPr marL="0" marR="0" marT="180975" marB="95250">
                    <a:solidFill>
                      <a:srgbClr val="F3EFE6"/>
                    </a:solidFill>
                  </a:tcPr>
                </a:tc>
                <a:tc>
                  <a:txBody>
                    <a:bodyPr/>
                    <a:lstStyle/>
                    <a:p>
                      <a:r>
                        <a:rPr sz="2100">
                          <a:solidFill>
                            <a:srgbClr val="16130F"/>
                          </a:solidFill>
                          <a:latin typeface="IBM Plex Sans"/>
                          <a:ea typeface="IBM Plex Sans"/>
                          <a:cs typeface="IBM Plex Sans"/>
                        </a:rPr>
                        <a:t>€1.37</a:t>
                      </a:r>
                    </a:p>
                  </a:txBody>
                  <a:tcPr marL="0" marR="0" marT="180975" marB="95250">
                    <a:solidFill>
                      <a:srgbClr val="F3EFE6"/>
                    </a:solidFill>
                  </a:tcPr>
                </a:tc>
              </a:tr>
              <a:tr h="685800">
                <a:tc>
                  <a:txBody>
                    <a:bodyPr/>
                    <a:lstStyle/>
                    <a:p>
                      <a:r>
                        <a:rPr sz="2100">
                          <a:solidFill>
                            <a:srgbClr val="16130F"/>
                          </a:solidFill>
                          <a:latin typeface="IBM Plex Sans"/>
                          <a:ea typeface="IBM Plex Sans"/>
                          <a:cs typeface="IBM Plex Sans"/>
                        </a:rPr>
                        <a:t>Fairtix (2%)</a:t>
                      </a:r>
                    </a:p>
                  </a:txBody>
                  <a:tcPr marL="0" marR="0" marT="180975" marB="95250">
                    <a:solidFill>
                      <a:srgbClr val="F3EFE6"/>
                    </a:solidFill>
                  </a:tcPr>
                </a:tc>
                <a:tc>
                  <a:txBody>
                    <a:bodyPr/>
                    <a:lstStyle/>
                    <a:p>
                      <a:r>
                        <a:rPr sz="2100">
                          <a:solidFill>
                            <a:srgbClr val="16130F"/>
                          </a:solidFill>
                          <a:latin typeface="IBM Plex Sans"/>
                          <a:ea typeface="IBM Plex Sans"/>
                          <a:cs typeface="IBM Plex Sans"/>
                        </a:rPr>
                        <a:t>€0.55</a:t>
                      </a:r>
                    </a:p>
                  </a:txBody>
                  <a:tcPr marL="0" marR="0" marT="180975" marB="95250">
                    <a:solidFill>
                      <a:srgbClr val="F3EFE6"/>
                    </a:solidFill>
                  </a:tcPr>
                </a:tc>
              </a:tr>
            </a:tbl>
          </a:graphicData>
        </a:graphic>
      </p:graphicFrame>
      <p:sp>
        <p:nvSpPr>
          <p:cNvPr id="8" name="text-5-7">
            <a:extLst xmlns:a="http://schemas.openxmlformats.org/drawingml/2006/main">
              <a:ext uri="{FF2B5EF4-FFF2-40B4-BE49-F238E27FC236}">
                <a16:creationId xmlns:a16="http://schemas.microsoft.com/office/drawing/2014/main" id="{F8C54E11-93B6-4C64-98FB-87AFC208D1A1}"/>
              </a:ext>
            </a:extLst>
          </p:cNvPr>
          <p:cNvSpPr>
            <a:spLocks xmlns:a="http://schemas.openxmlformats.org/drawingml/2006/main" noGrp="1"/>
          </p:cNvSpPr>
          <p:nvPr/>
        </p:nvSpPr>
        <p:spPr>
          <a:xfrm xmlns:a="http://schemas.openxmlformats.org/drawingml/2006/main">
            <a:off x="685800" y="5229225"/>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6130F"/>
                </a:solidFill>
                <a:latin typeface="IBM Plex Sans"/>
                <a:ea typeface="IBM Plex Sans"/>
                <a:cs typeface="IBM Plex Sans"/>
              </a:defRPr>
            </a:pPr>
            <a:r>
              <a:rPr sz="2175" b="0">
                <a:solidFill>
                  <a:srgbClr val="16130F"/>
                </a:solidFill>
                <a:latin typeface="IBM Plex Sans"/>
                <a:ea typeface="IBM Plex Sans"/>
                <a:cs typeface="IBM Plex Sans"/>
              </a:rPr>
              <a:t>The program pays the recipients and delivers the ticket.</a:t>
            </a:r>
          </a:p>
        </p:txBody>
      </p:sp>
      <p:sp>
        <p:nvSpPr>
          <p:cNvPr id="9" name="text-5-8">
            <a:extLst xmlns:a="http://schemas.openxmlformats.org/drawingml/2006/main">
              <a:ext uri="{FF2B5EF4-FFF2-40B4-BE49-F238E27FC236}">
                <a16:creationId xmlns:a16="http://schemas.microsoft.com/office/drawing/2014/main" id="{291928EE-A7FB-4C07-B6B6-80AAB5951C17}"/>
              </a:ext>
            </a:extLst>
          </p:cNvPr>
          <p:cNvSpPr>
            <a:spLocks xmlns:a="http://schemas.openxmlformats.org/drawingml/2006/main" noGrp="1"/>
          </p:cNvSpPr>
          <p:nvPr/>
        </p:nvSpPr>
        <p:spPr>
          <a:xfrm xmlns:a="http://schemas.openxmlformats.org/drawingml/2006/main">
            <a:off x="685800" y="5544121"/>
            <a:ext cx="10820400" cy="392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6130F"/>
                </a:solidFill>
                <a:latin typeface="IBM Plex Sans"/>
                <a:ea typeface="IBM Plex Sans"/>
                <a:cs typeface="IBM Plex Sans"/>
              </a:defRPr>
            </a:pPr>
            <a:r>
              <a:rPr sz="2175" b="0">
                <a:solidFill>
                  <a:srgbClr val="16130F"/>
                </a:solidFill>
                <a:latin typeface="IBM Plex Sans"/>
                <a:ea typeface="IBM Plex Sans"/>
                <a:cs typeface="IBM Plex Sans"/>
              </a:rPr>
              <a:t>If any part fails, payment and ticket delivery roll back.</a:t>
            </a:r>
          </a:p>
        </p:txBody>
      </p:sp>
    </p:spTree>
    <p:extLst>
      <p:ext uri="{BB962C8B-B14F-4D97-AF65-F5344CB8AC3E}">
        <p14:creationId xmlns:p14="http://schemas.microsoft.com/office/powerpoint/2010/main" val="1210736644"/>
      </p:ext>
    </p:extLst>
  </p:cSld>
</p:sld>
</file>

<file path=ppt/slides/slide6.xml><?xml version="1.0" encoding="utf-8"?>
<p:sld xmlns:p="http://schemas.openxmlformats.org/presentationml/2006/main">
  <p:cSld>
    <p:bg>
      <p:bgPr>
        <a:solidFill xmlns:a="http://schemas.openxmlformats.org/drawingml/2006/main">
          <a:srgbClr val="F3EFE6"/>
        </a:solidFill>
      </p:bgPr>
    </p:bg>
    <p:spTree>
      <p:nvGrpSpPr>
        <p:cNvPr id="1" name=""/>
        <p:cNvGrpSpPr/>
        <p:nvPr/>
      </p:nvGrpSpPr>
      <p:grpSpPr>
        <a:xfrm xmlns:a="http://schemas.openxmlformats.org/drawingml/2006/main"/>
      </p:grpSpPr>
      <p:sp>
        <p:nvSpPr>
          <p:cNvPr id="13" name="text-6-0">
            <a:extLst xmlns:a="http://schemas.openxmlformats.org/drawingml/2006/main">
              <a:ext uri="{FF2B5EF4-FFF2-40B4-BE49-F238E27FC236}">
                <a16:creationId xmlns:a16="http://schemas.microsoft.com/office/drawing/2014/main" id="{FAD109FA-A6B9-41CD-B912-57792389CF38}"/>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06</a:t>
            </a:r>
          </a:p>
        </p:txBody>
      </p:sp>
      <p:sp>
        <p:nvSpPr>
          <p:cNvPr id="2" name="text-6-1">
            <a:extLst xmlns:a="http://schemas.openxmlformats.org/drawingml/2006/main">
              <a:ext uri="{FF2B5EF4-FFF2-40B4-BE49-F238E27FC236}">
                <a16:creationId xmlns:a16="http://schemas.microsoft.com/office/drawing/2014/main" id="{FF9FDE41-F15D-46B6-B327-B70F4FEB5B97}"/>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B554C"/>
                </a:solidFill>
                <a:latin typeface="IBM Plex Sans"/>
                <a:ea typeface="IBM Plex Sans"/>
                <a:cs typeface="IBM Plex Sans"/>
              </a:defRPr>
            </a:pPr>
            <a:r>
              <a:rPr sz="1650" b="0">
                <a:solidFill>
                  <a:srgbClr val="5B554C"/>
                </a:solidFill>
                <a:latin typeface="IBM Plex Sans"/>
                <a:ea typeface="IBM Plex Sans"/>
                <a:cs typeface="IBM Plex Sans"/>
              </a:rPr>
              <a:t>Transaction evidence</a:t>
            </a:r>
          </a:p>
        </p:txBody>
      </p:sp>
      <p:sp>
        <p:nvSpPr>
          <p:cNvPr id="3" name="text-6-2">
            <a:extLst xmlns:a="http://schemas.openxmlformats.org/drawingml/2006/main">
              <a:ext uri="{FF2B5EF4-FFF2-40B4-BE49-F238E27FC236}">
                <a16:creationId xmlns:a16="http://schemas.microsoft.com/office/drawing/2014/main" id="{CD471873-D1C2-4AEB-BB08-7115CD722F0C}"/>
              </a:ext>
            </a:extLst>
          </p:cNvPr>
          <p:cNvSpPr>
            <a:spLocks xmlns:a="http://schemas.openxmlformats.org/drawingml/2006/main" noGrp="1"/>
          </p:cNvSpPr>
          <p:nvPr/>
        </p:nvSpPr>
        <p:spPr>
          <a:xfrm xmlns:a="http://schemas.openxmlformats.org/drawingml/2006/main">
            <a:off x="685800" y="1057275"/>
            <a:ext cx="10820400" cy="7168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975" b="1">
                <a:solidFill>
                  <a:srgbClr val="16130F"/>
                </a:solidFill>
                <a:latin typeface="Archivo"/>
                <a:ea typeface="Archivo"/>
                <a:cs typeface="Archivo"/>
              </a:defRPr>
            </a:pPr>
            <a:r>
              <a:rPr sz="3975" b="1">
                <a:solidFill>
                  <a:srgbClr val="16130F"/>
                </a:solidFill>
                <a:latin typeface="Archivo"/>
                <a:ea typeface="Archivo"/>
                <a:cs typeface="Archivo"/>
              </a:rPr>
              <a:t>Three checks on Solana devnet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67568744da34289"/>
          <a:stretch xmlns:a="http://schemas.openxmlformats.org/drawingml/2006/main"/>
        </p:blipFill>
        <p:spPr>
          <a:xfrm xmlns:a="http://schemas.openxmlformats.org/drawingml/2006/main">
            <a:off x="688447" y="1924050"/>
            <a:ext cx="5328706" cy="4495800"/>
          </a:xfrm>
          <a:prstGeom xmlns:a="http://schemas.openxmlformats.org/drawingml/2006/main" prst="rect">
            <a:avLst/>
          </a:prstGeom>
        </p:spPr>
      </p:pic>
      <p:sp>
        <p:nvSpPr>
          <p:cNvPr id="5" name="text-6-4">
            <a:extLst xmlns:a="http://schemas.openxmlformats.org/drawingml/2006/main">
              <a:ext uri="{FF2B5EF4-FFF2-40B4-BE49-F238E27FC236}">
                <a16:creationId xmlns:a16="http://schemas.microsoft.com/office/drawing/2014/main" id="{148808BC-56FB-4159-870C-F540FF1806F6}"/>
              </a:ext>
            </a:extLst>
          </p:cNvPr>
          <p:cNvSpPr>
            <a:spLocks xmlns:a="http://schemas.openxmlformats.org/drawingml/2006/main" noGrp="1"/>
          </p:cNvSpPr>
          <p:nvPr/>
        </p:nvSpPr>
        <p:spPr>
          <a:xfrm xmlns:a="http://schemas.openxmlformats.org/drawingml/2006/main">
            <a:off x="7162800" y="2190750"/>
            <a:ext cx="4343400" cy="473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625" b="1">
                <a:solidFill>
                  <a:srgbClr val="16130F"/>
                </a:solidFill>
                <a:latin typeface="Archivo"/>
                <a:ea typeface="Archivo"/>
                <a:cs typeface="Archivo"/>
              </a:defRPr>
            </a:pPr>
            <a:r>
              <a:rPr sz="2625" b="1">
                <a:solidFill>
                  <a:srgbClr val="16130F"/>
                </a:solidFill>
                <a:latin typeface="Archivo"/>
                <a:ea typeface="Archivo"/>
                <a:cs typeface="Archivo"/>
              </a:rPr>
              <a:t>€60 listing</a:t>
            </a:r>
          </a:p>
        </p:txBody>
      </p:sp>
      <p:sp>
        <p:nvSpPr>
          <p:cNvPr id="6" name="text-6-5">
            <a:extLst xmlns:a="http://schemas.openxmlformats.org/drawingml/2006/main">
              <a:ext uri="{FF2B5EF4-FFF2-40B4-BE49-F238E27FC236}">
                <a16:creationId xmlns:a16="http://schemas.microsoft.com/office/drawing/2014/main" id="{39F25740-8907-46A2-9339-4A394D4550C9}"/>
              </a:ext>
            </a:extLst>
          </p:cNvPr>
          <p:cNvSpPr>
            <a:spLocks xmlns:a="http://schemas.openxmlformats.org/drawingml/2006/main" noGrp="1"/>
          </p:cNvSpPr>
          <p:nvPr/>
        </p:nvSpPr>
        <p:spPr>
          <a:xfrm xmlns:a="http://schemas.openxmlformats.org/drawingml/2006/main">
            <a:off x="7162800" y="2695575"/>
            <a:ext cx="434340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16130F"/>
                </a:solidFill>
                <a:latin typeface="IBM Plex Sans"/>
                <a:ea typeface="IBM Plex Sans"/>
                <a:cs typeface="IBM Plex Sans"/>
              </a:defRPr>
            </a:pPr>
            <a:r>
              <a:rPr sz="1950" b="0">
                <a:solidFill>
                  <a:srgbClr val="16130F"/>
                </a:solidFill>
                <a:latin typeface="IBM Plex Sans"/>
                <a:ea typeface="IBM Plex Sans"/>
                <a:cs typeface="IBM Plex Sans"/>
              </a:rPr>
              <a:t>Rejected above the €27.50 cap</a:t>
            </a:r>
          </a:p>
        </p:txBody>
      </p:sp>
      <p:sp>
        <p:nvSpPr>
          <p:cNvPr id="7" name="text-6-6">
            <a:extLst xmlns:a="http://schemas.openxmlformats.org/drawingml/2006/main">
              <a:ext uri="{FF2B5EF4-FFF2-40B4-BE49-F238E27FC236}">
                <a16:creationId xmlns:a16="http://schemas.microsoft.com/office/drawing/2014/main" id="{C7A4772E-F685-4F2D-AD9D-63BD371C0B66}"/>
              </a:ext>
            </a:extLst>
          </p:cNvPr>
          <p:cNvSpPr>
            <a:spLocks xmlns:a="http://schemas.openxmlformats.org/drawingml/2006/main" noGrp="1"/>
          </p:cNvSpPr>
          <p:nvPr/>
        </p:nvSpPr>
        <p:spPr>
          <a:xfrm xmlns:a="http://schemas.openxmlformats.org/drawingml/2006/main">
            <a:off x="7162800" y="3124200"/>
            <a:ext cx="4343400" cy="311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5B554C"/>
                </a:solidFill>
                <a:latin typeface="IBM Plex Sans"/>
                <a:ea typeface="IBM Plex Sans"/>
                <a:cs typeface="IBM Plex Sans"/>
              </a:defRPr>
            </a:pPr>
            <a:r>
              <a:rPr sz="1725" b="0" u="sng">
                <a:solidFill>
                  <a:srgbClr val="5B554C"/>
                </a:solidFill>
                <a:latin typeface="IBM Plex Sans"/>
                <a:ea typeface="IBM Plex Sans"/>
                <a:cs typeface="IBM Plex Sans"/>
                <a:hlinkClick xmlns:r="http://schemas.openxmlformats.org/officeDocument/2006/relationships" r:id="Rd5f996899be24605"/>
              </a:rPr>
              <a:t>Failed transaction</a:t>
            </a:r>
          </a:p>
        </p:txBody>
      </p:sp>
      <p:sp>
        <p:nvSpPr>
          <p:cNvPr id="8" name="text-6-7">
            <a:extLst xmlns:a="http://schemas.openxmlformats.org/drawingml/2006/main">
              <a:ext uri="{FF2B5EF4-FFF2-40B4-BE49-F238E27FC236}">
                <a16:creationId xmlns:a16="http://schemas.microsoft.com/office/drawing/2014/main" id="{4349E473-89CD-401A-B352-C50C6B3381FB}"/>
              </a:ext>
            </a:extLst>
          </p:cNvPr>
          <p:cNvSpPr>
            <a:spLocks xmlns:a="http://schemas.openxmlformats.org/drawingml/2006/main" noGrp="1"/>
          </p:cNvSpPr>
          <p:nvPr/>
        </p:nvSpPr>
        <p:spPr>
          <a:xfrm xmlns:a="http://schemas.openxmlformats.org/drawingml/2006/main">
            <a:off x="7162800" y="3819525"/>
            <a:ext cx="4343400" cy="473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625" b="1">
                <a:solidFill>
                  <a:srgbClr val="16130F"/>
                </a:solidFill>
                <a:latin typeface="Archivo"/>
                <a:ea typeface="Archivo"/>
                <a:cs typeface="Archivo"/>
              </a:defRPr>
            </a:pPr>
            <a:r>
              <a:rPr sz="2625" b="1">
                <a:solidFill>
                  <a:srgbClr val="16130F"/>
                </a:solidFill>
                <a:latin typeface="Archivo"/>
                <a:ea typeface="Archivo"/>
                <a:cs typeface="Archivo"/>
              </a:rPr>
              <a:t>Direct transfer</a:t>
            </a:r>
          </a:p>
        </p:txBody>
      </p:sp>
      <p:sp>
        <p:nvSpPr>
          <p:cNvPr id="9" name="text-6-8">
            <a:extLst xmlns:a="http://schemas.openxmlformats.org/drawingml/2006/main">
              <a:ext uri="{FF2B5EF4-FFF2-40B4-BE49-F238E27FC236}">
                <a16:creationId xmlns:a16="http://schemas.microsoft.com/office/drawing/2014/main" id="{6D1EF8BA-07D0-42B9-BC96-2AAA6BF54F28}"/>
              </a:ext>
            </a:extLst>
          </p:cNvPr>
          <p:cNvSpPr>
            <a:spLocks xmlns:a="http://schemas.openxmlformats.org/drawingml/2006/main" noGrp="1"/>
          </p:cNvSpPr>
          <p:nvPr/>
        </p:nvSpPr>
        <p:spPr>
          <a:xfrm xmlns:a="http://schemas.openxmlformats.org/drawingml/2006/main">
            <a:off x="7162800" y="4333875"/>
            <a:ext cx="4343400" cy="3246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16130F"/>
                </a:solidFill>
                <a:latin typeface="IBM Plex Sans"/>
                <a:ea typeface="IBM Plex Sans"/>
                <a:cs typeface="IBM Plex Sans"/>
              </a:defRPr>
            </a:pPr>
            <a:r>
              <a:rPr sz="1800" b="0">
                <a:solidFill>
                  <a:srgbClr val="16130F"/>
                </a:solidFill>
                <a:latin typeface="IBM Plex Sans"/>
                <a:ea typeface="IBM Plex Sans"/>
                <a:cs typeface="IBM Plex Sans"/>
              </a:rPr>
              <a:t>Rejected even with the holder’s signature</a:t>
            </a:r>
          </a:p>
        </p:txBody>
      </p:sp>
      <p:sp>
        <p:nvSpPr>
          <p:cNvPr id="10" name="text-6-9">
            <a:extLst xmlns:a="http://schemas.openxmlformats.org/drawingml/2006/main">
              <a:ext uri="{FF2B5EF4-FFF2-40B4-BE49-F238E27FC236}">
                <a16:creationId xmlns:a16="http://schemas.microsoft.com/office/drawing/2014/main" id="{067CAD08-5BAD-41CC-B587-036294F2CD2F}"/>
              </a:ext>
            </a:extLst>
          </p:cNvPr>
          <p:cNvSpPr>
            <a:spLocks xmlns:a="http://schemas.openxmlformats.org/drawingml/2006/main" noGrp="1"/>
          </p:cNvSpPr>
          <p:nvPr/>
        </p:nvSpPr>
        <p:spPr>
          <a:xfrm xmlns:a="http://schemas.openxmlformats.org/drawingml/2006/main">
            <a:off x="7162800" y="4733925"/>
            <a:ext cx="4343400" cy="311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5B554C"/>
                </a:solidFill>
                <a:latin typeface="IBM Plex Sans"/>
                <a:ea typeface="IBM Plex Sans"/>
                <a:cs typeface="IBM Plex Sans"/>
              </a:defRPr>
            </a:pPr>
            <a:r>
              <a:rPr sz="1725" b="0" u="sng">
                <a:solidFill>
                  <a:srgbClr val="5B554C"/>
                </a:solidFill>
                <a:latin typeface="IBM Plex Sans"/>
                <a:ea typeface="IBM Plex Sans"/>
                <a:cs typeface="IBM Plex Sans"/>
                <a:hlinkClick xmlns:r="http://schemas.openxmlformats.org/officeDocument/2006/relationships" r:id="Rdf2a0b61976440b6"/>
              </a:rPr>
              <a:t>Failed transaction</a:t>
            </a:r>
          </a:p>
        </p:txBody>
      </p:sp>
      <p:sp>
        <p:nvSpPr>
          <p:cNvPr id="11" name="text-6-10">
            <a:extLst xmlns:a="http://schemas.openxmlformats.org/drawingml/2006/main">
              <a:ext uri="{FF2B5EF4-FFF2-40B4-BE49-F238E27FC236}">
                <a16:creationId xmlns:a16="http://schemas.microsoft.com/office/drawing/2014/main" id="{889B61BA-147A-4145-BE5D-A7C3DE2AE7E0}"/>
              </a:ext>
            </a:extLst>
          </p:cNvPr>
          <p:cNvSpPr>
            <a:spLocks xmlns:a="http://schemas.openxmlformats.org/drawingml/2006/main" noGrp="1"/>
          </p:cNvSpPr>
          <p:nvPr/>
        </p:nvSpPr>
        <p:spPr>
          <a:xfrm xmlns:a="http://schemas.openxmlformats.org/drawingml/2006/main">
            <a:off x="7162800" y="5410200"/>
            <a:ext cx="4343400" cy="473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625" b="1">
                <a:solidFill>
                  <a:srgbClr val="16130F"/>
                </a:solidFill>
                <a:latin typeface="Archivo"/>
                <a:ea typeface="Archivo"/>
                <a:cs typeface="Archivo"/>
              </a:defRPr>
            </a:pPr>
            <a:r>
              <a:rPr sz="2625" b="1">
                <a:solidFill>
                  <a:srgbClr val="16130F"/>
                </a:solidFill>
                <a:latin typeface="Archivo"/>
                <a:ea typeface="Archivo"/>
                <a:cs typeface="Archivo"/>
              </a:rPr>
              <a:t>€27.50 resale</a:t>
            </a:r>
          </a:p>
        </p:txBody>
      </p:sp>
      <p:sp>
        <p:nvSpPr>
          <p:cNvPr id="12" name="text-6-11">
            <a:extLst xmlns:a="http://schemas.openxmlformats.org/drawingml/2006/main">
              <a:ext uri="{FF2B5EF4-FFF2-40B4-BE49-F238E27FC236}">
                <a16:creationId xmlns:a16="http://schemas.microsoft.com/office/drawing/2014/main" id="{D4EF566B-7C16-46E2-BE01-DECF06678581}"/>
              </a:ext>
            </a:extLst>
          </p:cNvPr>
          <p:cNvSpPr>
            <a:spLocks xmlns:a="http://schemas.openxmlformats.org/drawingml/2006/main" noGrp="1"/>
          </p:cNvSpPr>
          <p:nvPr/>
        </p:nvSpPr>
        <p:spPr>
          <a:xfrm xmlns:a="http://schemas.openxmlformats.org/drawingml/2006/main">
            <a:off x="7162800" y="5905500"/>
            <a:ext cx="4343400" cy="3381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75" b="0">
                <a:solidFill>
                  <a:srgbClr val="16130F"/>
                </a:solidFill>
                <a:latin typeface="IBM Plex Sans"/>
                <a:ea typeface="IBM Plex Sans"/>
                <a:cs typeface="IBM Plex Sans"/>
              </a:defRPr>
            </a:pPr>
            <a:r>
              <a:rPr sz="1875" b="0" u="sng">
                <a:solidFill>
                  <a:srgbClr val="16130F"/>
                </a:solidFill>
                <a:latin typeface="IBM Plex Sans"/>
                <a:ea typeface="IBM Plex Sans"/>
                <a:cs typeface="IBM Plex Sans"/>
                <a:hlinkClick xmlns:r="http://schemas.openxmlformats.org/officeDocument/2006/relationships" r:id="R34135d015f0c47db"/>
              </a:rPr>
              <a:t>Confirmed ticket and payment</a:t>
            </a:r>
          </a:p>
        </p:txBody>
      </p:sp>
    </p:spTree>
    <p:extLst>
      <p:ext uri="{BB962C8B-B14F-4D97-AF65-F5344CB8AC3E}">
        <p14:creationId xmlns:p14="http://schemas.microsoft.com/office/powerpoint/2010/main" val="1807992818"/>
      </p:ext>
    </p:extLst>
  </p:cSld>
</p:sld>
</file>

<file path=ppt/slides/slide7.xml><?xml version="1.0" encoding="utf-8"?>
<p:sld xmlns:p="http://schemas.openxmlformats.org/presentationml/2006/main">
  <p:cSld>
    <p:bg>
      <p:bgPr>
        <a:solidFill xmlns:a="http://schemas.openxmlformats.org/drawingml/2006/main">
          <a:srgbClr val="16130F"/>
        </a:solidFill>
      </p:bgPr>
    </p:bg>
    <p:spTree>
      <p:nvGrpSpPr>
        <p:cNvPr id="1" name=""/>
        <p:cNvGrpSpPr/>
        <p:nvPr/>
      </p:nvGrpSpPr>
      <p:grpSpPr>
        <a:xfrm xmlns:a="http://schemas.openxmlformats.org/drawingml/2006/main"/>
      </p:grpSpPr>
      <p:sp>
        <p:nvSpPr>
          <p:cNvPr id="18" name="text-7-0">
            <a:extLst xmlns:a="http://schemas.openxmlformats.org/drawingml/2006/main">
              <a:ext uri="{FF2B5EF4-FFF2-40B4-BE49-F238E27FC236}">
                <a16:creationId xmlns:a16="http://schemas.microsoft.com/office/drawing/2014/main" id="{77FA74A1-CA2A-4334-93B0-44BEBA06F99E}"/>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F3EFE6"/>
                </a:solidFill>
                <a:latin typeface="IBM Plex Mono"/>
                <a:ea typeface="IBM Plex Mono"/>
                <a:cs typeface="IBM Plex Mono"/>
              </a:defRPr>
            </a:pPr>
            <a:r>
              <a:rPr sz="1350" b="0">
                <a:solidFill>
                  <a:srgbClr val="F3EFE6"/>
                </a:solidFill>
                <a:latin typeface="IBM Plex Mono"/>
                <a:ea typeface="IBM Plex Mono"/>
                <a:cs typeface="IBM Plex Mono"/>
              </a:rPr>
              <a:t>07</a:t>
            </a:r>
          </a:p>
        </p:txBody>
      </p:sp>
      <p:sp>
        <p:nvSpPr>
          <p:cNvPr id="2" name="text-7-1">
            <a:extLst xmlns:a="http://schemas.openxmlformats.org/drawingml/2006/main">
              <a:ext uri="{FF2B5EF4-FFF2-40B4-BE49-F238E27FC236}">
                <a16:creationId xmlns:a16="http://schemas.microsoft.com/office/drawing/2014/main" id="{7A854A44-71F6-4FE0-839C-1FA0803F024A}"/>
              </a:ext>
            </a:extLst>
          </p:cNvPr>
          <p:cNvSpPr>
            <a:spLocks xmlns:a="http://schemas.openxmlformats.org/drawingml/2006/main" noGrp="1"/>
          </p:cNvSpPr>
          <p:nvPr/>
        </p:nvSpPr>
        <p:spPr>
          <a:xfrm xmlns:a="http://schemas.openxmlformats.org/drawingml/2006/main">
            <a:off x="685800" y="552450"/>
            <a:ext cx="95250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D9D2C3"/>
                </a:solidFill>
                <a:latin typeface="IBM Plex Sans"/>
                <a:ea typeface="IBM Plex Sans"/>
                <a:cs typeface="IBM Plex Sans"/>
              </a:defRPr>
            </a:pPr>
            <a:r>
              <a:rPr sz="1650" b="0">
                <a:solidFill>
                  <a:srgbClr val="D9D2C3"/>
                </a:solidFill>
                <a:latin typeface="IBM Plex Sans"/>
                <a:ea typeface="IBM Plex Sans"/>
                <a:cs typeface="IBM Plex Sans"/>
              </a:rPr>
              <a:t>The deployed programs</a:t>
            </a:r>
          </a:p>
        </p:txBody>
      </p:sp>
      <p:sp>
        <p:nvSpPr>
          <p:cNvPr id="3" name="text-7-2">
            <a:extLst xmlns:a="http://schemas.openxmlformats.org/drawingml/2006/main">
              <a:ext uri="{FF2B5EF4-FFF2-40B4-BE49-F238E27FC236}">
                <a16:creationId xmlns:a16="http://schemas.microsoft.com/office/drawing/2014/main" id="{5EDF5F1E-88FC-41F6-A6AA-7F39245543F8}"/>
              </a:ext>
            </a:extLst>
          </p:cNvPr>
          <p:cNvSpPr>
            <a:spLocks xmlns:a="http://schemas.openxmlformats.org/drawingml/2006/main" noGrp="1"/>
          </p:cNvSpPr>
          <p:nvPr/>
        </p:nvSpPr>
        <p:spPr>
          <a:xfrm xmlns:a="http://schemas.openxmlformats.org/drawingml/2006/main">
            <a:off x="685800" y="1057275"/>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F3EFE6"/>
                </a:solidFill>
                <a:latin typeface="Archivo"/>
                <a:ea typeface="Archivo"/>
                <a:cs typeface="Archivo"/>
              </a:defRPr>
            </a:pPr>
            <a:r>
              <a:rPr sz="4350" b="1">
                <a:solidFill>
                  <a:srgbClr val="F3EFE6"/>
                </a:solidFill>
                <a:latin typeface="Archivo"/>
                <a:ea typeface="Archivo"/>
                <a:cs typeface="Archivo"/>
              </a:rPr>
              <a:t>Two Solana programs,</a:t>
            </a:r>
          </a:p>
        </p:txBody>
      </p:sp>
      <p:sp>
        <p:nvSpPr>
          <p:cNvPr id="4" name="text-7-3">
            <a:extLst xmlns:a="http://schemas.openxmlformats.org/drawingml/2006/main">
              <a:ext uri="{FF2B5EF4-FFF2-40B4-BE49-F238E27FC236}">
                <a16:creationId xmlns:a16="http://schemas.microsoft.com/office/drawing/2014/main" id="{586787ED-08D5-4DA5-AD6D-0F3C285AB0FF}"/>
              </a:ext>
            </a:extLst>
          </p:cNvPr>
          <p:cNvSpPr>
            <a:spLocks xmlns:a="http://schemas.openxmlformats.org/drawingml/2006/main" noGrp="1"/>
          </p:cNvSpPr>
          <p:nvPr/>
        </p:nvSpPr>
        <p:spPr>
          <a:xfrm xmlns:a="http://schemas.openxmlformats.org/drawingml/2006/main">
            <a:off x="685800" y="1653921"/>
            <a:ext cx="10820400" cy="784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350" b="1">
                <a:solidFill>
                  <a:srgbClr val="F3EFE6"/>
                </a:solidFill>
                <a:latin typeface="Archivo"/>
                <a:ea typeface="Archivo"/>
                <a:cs typeface="Archivo"/>
              </a:defRPr>
            </a:pPr>
            <a:r>
              <a:rPr sz="4350" b="1">
                <a:solidFill>
                  <a:srgbClr val="F3EFE6"/>
                </a:solidFill>
                <a:latin typeface="Archivo"/>
                <a:ea typeface="Archivo"/>
                <a:cs typeface="Archivo"/>
              </a:rPr>
              <a:t>two responsibilities</a:t>
            </a:r>
          </a:p>
        </p:txBody>
      </p:sp>
      <p:sp>
        <p:nvSpPr>
          <p:cNvPr id="5" name="text-7-4">
            <a:extLst xmlns:a="http://schemas.openxmlformats.org/drawingml/2006/main">
              <a:ext uri="{FF2B5EF4-FFF2-40B4-BE49-F238E27FC236}">
                <a16:creationId xmlns:a16="http://schemas.microsoft.com/office/drawing/2014/main" id="{95F5F669-C0C3-4BFA-904D-CE99A6668833}"/>
              </a:ext>
            </a:extLst>
          </p:cNvPr>
          <p:cNvSpPr>
            <a:spLocks xmlns:a="http://schemas.openxmlformats.org/drawingml/2006/main" noGrp="1"/>
          </p:cNvSpPr>
          <p:nvPr/>
        </p:nvSpPr>
        <p:spPr>
          <a:xfrm xmlns:a="http://schemas.openxmlformats.org/drawingml/2006/main">
            <a:off x="685800" y="2876550"/>
            <a:ext cx="5143500" cy="52749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1">
                <a:solidFill>
                  <a:srgbClr val="F3EFE6"/>
                </a:solidFill>
                <a:latin typeface="Archivo"/>
                <a:ea typeface="Archivo"/>
                <a:cs typeface="Archivo"/>
              </a:defRPr>
            </a:pPr>
            <a:r>
              <a:rPr sz="2925" b="1">
                <a:solidFill>
                  <a:srgbClr val="F3EFE6"/>
                </a:solidFill>
                <a:latin typeface="Archivo"/>
                <a:ea typeface="Archivo"/>
                <a:cs typeface="Archivo"/>
              </a:rPr>
              <a:t>Marketplace</a:t>
            </a:r>
          </a:p>
        </p:txBody>
      </p:sp>
      <p:sp>
        <p:nvSpPr>
          <p:cNvPr id="6" name="text-7-5">
            <a:extLst xmlns:a="http://schemas.openxmlformats.org/drawingml/2006/main">
              <a:ext uri="{FF2B5EF4-FFF2-40B4-BE49-F238E27FC236}">
                <a16:creationId xmlns:a16="http://schemas.microsoft.com/office/drawing/2014/main" id="{243588B6-1ACB-4E02-8FC6-0B07706D7E54}"/>
              </a:ext>
            </a:extLst>
          </p:cNvPr>
          <p:cNvSpPr>
            <a:spLocks xmlns:a="http://schemas.openxmlformats.org/drawingml/2006/main" noGrp="1"/>
          </p:cNvSpPr>
          <p:nvPr/>
        </p:nvSpPr>
        <p:spPr>
          <a:xfrm xmlns:a="http://schemas.openxmlformats.org/drawingml/2006/main">
            <a:off x="685800" y="3533775"/>
            <a:ext cx="519112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F3EFE6"/>
                </a:solidFill>
                <a:latin typeface="IBM Plex Sans"/>
                <a:ea typeface="IBM Plex Sans"/>
                <a:cs typeface="IBM Plex Sans"/>
              </a:defRPr>
            </a:pPr>
            <a:r>
              <a:rPr sz="2100" b="0">
                <a:solidFill>
                  <a:srgbClr val="F3EFE6"/>
                </a:solidFill>
                <a:latin typeface="IBM Plex Sans"/>
                <a:ea typeface="IBM Plex Sans"/>
                <a:cs typeface="IBM Plex Sans"/>
              </a:rPr>
              <a:t>Stores the cap and royalty.</a:t>
            </a:r>
          </a:p>
        </p:txBody>
      </p:sp>
      <p:sp>
        <p:nvSpPr>
          <p:cNvPr id="7" name="text-7-6">
            <a:extLst xmlns:a="http://schemas.openxmlformats.org/drawingml/2006/main">
              <a:ext uri="{FF2B5EF4-FFF2-40B4-BE49-F238E27FC236}">
                <a16:creationId xmlns:a16="http://schemas.microsoft.com/office/drawing/2014/main" id="{B5F330B7-4CA5-4E56-897A-699B13924161}"/>
              </a:ext>
            </a:extLst>
          </p:cNvPr>
          <p:cNvSpPr>
            <a:spLocks xmlns:a="http://schemas.openxmlformats.org/drawingml/2006/main" noGrp="1"/>
          </p:cNvSpPr>
          <p:nvPr/>
        </p:nvSpPr>
        <p:spPr>
          <a:xfrm xmlns:a="http://schemas.openxmlformats.org/drawingml/2006/main">
            <a:off x="685800" y="3880485"/>
            <a:ext cx="519112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F3EFE6"/>
                </a:solidFill>
                <a:latin typeface="IBM Plex Sans"/>
                <a:ea typeface="IBM Plex Sans"/>
                <a:cs typeface="IBM Plex Sans"/>
              </a:defRPr>
            </a:pPr>
            <a:r>
              <a:rPr sz="2100" b="0">
                <a:solidFill>
                  <a:srgbClr val="F3EFE6"/>
                </a:solidFill>
                <a:latin typeface="IBM Plex Sans"/>
                <a:ea typeface="IBM Plex Sans"/>
                <a:cs typeface="IBM Plex Sans"/>
              </a:rPr>
              <a:t>Controls ticket escrow.</a:t>
            </a:r>
          </a:p>
        </p:txBody>
      </p:sp>
      <p:sp>
        <p:nvSpPr>
          <p:cNvPr id="8" name="text-7-7">
            <a:extLst xmlns:a="http://schemas.openxmlformats.org/drawingml/2006/main">
              <a:ext uri="{FF2B5EF4-FFF2-40B4-BE49-F238E27FC236}">
                <a16:creationId xmlns:a16="http://schemas.microsoft.com/office/drawing/2014/main" id="{C4945855-96A9-4190-B3D6-D657624662DB}"/>
              </a:ext>
            </a:extLst>
          </p:cNvPr>
          <p:cNvSpPr>
            <a:spLocks xmlns:a="http://schemas.openxmlformats.org/drawingml/2006/main" noGrp="1"/>
          </p:cNvSpPr>
          <p:nvPr/>
        </p:nvSpPr>
        <p:spPr>
          <a:xfrm xmlns:a="http://schemas.openxmlformats.org/drawingml/2006/main">
            <a:off x="685800" y="4227195"/>
            <a:ext cx="5191125" cy="3787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F3EFE6"/>
                </a:solidFill>
                <a:latin typeface="IBM Plex Sans"/>
                <a:ea typeface="IBM Plex Sans"/>
                <a:cs typeface="IBM Plex Sans"/>
              </a:defRPr>
            </a:pPr>
            <a:r>
              <a:rPr sz="2100" b="0">
                <a:solidFill>
                  <a:srgbClr val="F3EFE6"/>
                </a:solidFill>
                <a:latin typeface="IBM Plex Sans"/>
                <a:ea typeface="IBM Plex Sans"/>
                <a:cs typeface="IBM Plex Sans"/>
              </a:rPr>
              <a:t>Checks and settles each resale.</a:t>
            </a:r>
          </a:p>
        </p:txBody>
      </p:sp>
      <p:sp>
        <p:nvSpPr>
          <p:cNvPr id="9" name="text-7-8">
            <a:extLst xmlns:a="http://schemas.openxmlformats.org/drawingml/2006/main">
              <a:ext uri="{FF2B5EF4-FFF2-40B4-BE49-F238E27FC236}">
                <a16:creationId xmlns:a16="http://schemas.microsoft.com/office/drawing/2014/main" id="{218AB1DA-6D8E-4D98-8E21-1884EBCA9A36}"/>
              </a:ext>
            </a:extLst>
          </p:cNvPr>
          <p:cNvSpPr>
            <a:spLocks xmlns:a="http://schemas.openxmlformats.org/drawingml/2006/main" noGrp="1"/>
          </p:cNvSpPr>
          <p:nvPr/>
        </p:nvSpPr>
        <p:spPr>
          <a:xfrm xmlns:a="http://schemas.openxmlformats.org/drawingml/2006/main">
            <a:off x="6762750" y="2876550"/>
            <a:ext cx="4743450" cy="52749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1">
                <a:solidFill>
                  <a:srgbClr val="F3EFE6"/>
                </a:solidFill>
                <a:latin typeface="Archivo"/>
                <a:ea typeface="Archivo"/>
                <a:cs typeface="Archivo"/>
              </a:defRPr>
            </a:pPr>
            <a:r>
              <a:rPr sz="2925" b="1">
                <a:solidFill>
                  <a:srgbClr val="F3EFE6"/>
                </a:solidFill>
                <a:latin typeface="Archivo"/>
                <a:ea typeface="Archivo"/>
                <a:cs typeface="Archivo"/>
              </a:rPr>
              <a:t>Transfer hook</a:t>
            </a:r>
          </a:p>
        </p:txBody>
      </p:sp>
      <p:sp>
        <p:nvSpPr>
          <p:cNvPr id="10" name="text-7-9">
            <a:extLst xmlns:a="http://schemas.openxmlformats.org/drawingml/2006/main">
              <a:ext uri="{FF2B5EF4-FFF2-40B4-BE49-F238E27FC236}">
                <a16:creationId xmlns:a16="http://schemas.microsoft.com/office/drawing/2014/main" id="{977B316A-AE66-41C8-947C-412198EE1C40}"/>
              </a:ext>
            </a:extLst>
          </p:cNvPr>
          <p:cNvSpPr>
            <a:spLocks xmlns:a="http://schemas.openxmlformats.org/drawingml/2006/main" noGrp="1"/>
          </p:cNvSpPr>
          <p:nvPr/>
        </p:nvSpPr>
        <p:spPr>
          <a:xfrm xmlns:a="http://schemas.openxmlformats.org/drawingml/2006/main">
            <a:off x="6762750" y="3533775"/>
            <a:ext cx="474345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F3EFE6"/>
                </a:solidFill>
                <a:latin typeface="IBM Plex Sans"/>
                <a:ea typeface="IBM Plex Sans"/>
                <a:cs typeface="IBM Plex Sans"/>
              </a:defRPr>
            </a:pPr>
            <a:r>
              <a:rPr sz="1950" b="0">
                <a:solidFill>
                  <a:srgbClr val="F3EFE6"/>
                </a:solidFill>
                <a:latin typeface="IBM Plex Sans"/>
                <a:ea typeface="IBM Plex Sans"/>
                <a:cs typeface="IBM Plex Sans"/>
              </a:rPr>
              <a:t>Checks every ticket transfer.</a:t>
            </a:r>
          </a:p>
        </p:txBody>
      </p:sp>
      <p:sp>
        <p:nvSpPr>
          <p:cNvPr id="11" name="text-7-10">
            <a:extLst xmlns:a="http://schemas.openxmlformats.org/drawingml/2006/main">
              <a:ext uri="{FF2B5EF4-FFF2-40B4-BE49-F238E27FC236}">
                <a16:creationId xmlns:a16="http://schemas.microsoft.com/office/drawing/2014/main" id="{F1650D94-2029-4B3F-868D-B48B743BDD1E}"/>
              </a:ext>
            </a:extLst>
          </p:cNvPr>
          <p:cNvSpPr>
            <a:spLocks xmlns:a="http://schemas.openxmlformats.org/drawingml/2006/main" noGrp="1"/>
          </p:cNvSpPr>
          <p:nvPr/>
        </p:nvSpPr>
        <p:spPr>
          <a:xfrm xmlns:a="http://schemas.openxmlformats.org/drawingml/2006/main">
            <a:off x="6762750" y="3880485"/>
            <a:ext cx="474345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F3EFE6"/>
                </a:solidFill>
                <a:latin typeface="IBM Plex Sans"/>
                <a:ea typeface="IBM Plex Sans"/>
                <a:cs typeface="IBM Plex Sans"/>
              </a:defRPr>
            </a:pPr>
            <a:r>
              <a:rPr sz="1950" b="0">
                <a:solidFill>
                  <a:srgbClr val="F3EFE6"/>
                </a:solidFill>
                <a:latin typeface="IBM Plex Sans"/>
                <a:ea typeface="IBM Plex Sans"/>
                <a:cs typeface="IBM Plex Sans"/>
              </a:rPr>
              <a:t>Rejects moves outside valid escrow.</a:t>
            </a:r>
          </a:p>
        </p:txBody>
      </p:sp>
      <p:sp>
        <p:nvSpPr>
          <p:cNvPr id="12" name="text-7-11">
            <a:extLst xmlns:a="http://schemas.openxmlformats.org/drawingml/2006/main">
              <a:ext uri="{FF2B5EF4-FFF2-40B4-BE49-F238E27FC236}">
                <a16:creationId xmlns:a16="http://schemas.microsoft.com/office/drawing/2014/main" id="{6771C7AE-1B89-4728-8A23-516B38D0BFA8}"/>
              </a:ext>
            </a:extLst>
          </p:cNvPr>
          <p:cNvSpPr>
            <a:spLocks xmlns:a="http://schemas.openxmlformats.org/drawingml/2006/main" noGrp="1"/>
          </p:cNvSpPr>
          <p:nvPr/>
        </p:nvSpPr>
        <p:spPr>
          <a:xfrm xmlns:a="http://schemas.openxmlformats.org/drawingml/2006/main">
            <a:off x="6762750" y="4227195"/>
            <a:ext cx="4743450" cy="351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F3EFE6"/>
                </a:solidFill>
                <a:latin typeface="IBM Plex Sans"/>
                <a:ea typeface="IBM Plex Sans"/>
                <a:cs typeface="IBM Plex Sans"/>
              </a:defRPr>
            </a:pPr>
            <a:r>
              <a:rPr sz="1950" b="0">
                <a:solidFill>
                  <a:srgbClr val="F3EFE6"/>
                </a:solidFill>
                <a:latin typeface="IBM Plex Sans"/>
                <a:ea typeface="IBM Plex Sans"/>
                <a:cs typeface="IBM Plex Sans"/>
              </a:rPr>
              <a:t>Keeps the rule active in other wallets.</a:t>
            </a:r>
          </a:p>
        </p:txBody>
      </p:sp>
      <p:sp>
        <p:nvSpPr>
          <p:cNvPr id="13" name="text-7-12">
            <a:extLst xmlns:a="http://schemas.openxmlformats.org/drawingml/2006/main">
              <a:ext uri="{FF2B5EF4-FFF2-40B4-BE49-F238E27FC236}">
                <a16:creationId xmlns:a16="http://schemas.microsoft.com/office/drawing/2014/main" id="{31F52B51-CE11-4858-A76F-B39A355241F8}"/>
              </a:ext>
            </a:extLst>
          </p:cNvPr>
          <p:cNvSpPr>
            <a:spLocks xmlns:a="http://schemas.openxmlformats.org/drawingml/2006/main" noGrp="1"/>
          </p:cNvSpPr>
          <p:nvPr/>
        </p:nvSpPr>
        <p:spPr>
          <a:xfrm xmlns:a="http://schemas.openxmlformats.org/drawingml/2006/main">
            <a:off x="685800" y="4972050"/>
            <a:ext cx="514350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F3EFE6"/>
                </a:solidFill>
                <a:latin typeface="IBM Plex Sans"/>
                <a:ea typeface="IBM Plex Sans"/>
                <a:cs typeface="IBM Plex Sans"/>
              </a:defRPr>
            </a:pPr>
            <a:r>
              <a:rPr sz="2025" b="0" u="sng">
                <a:solidFill>
                  <a:srgbClr val="F3EFE6"/>
                </a:solidFill>
                <a:latin typeface="IBM Plex Sans"/>
                <a:ea typeface="IBM Plex Sans"/>
                <a:cs typeface="IBM Plex Sans"/>
                <a:hlinkClick xmlns:r="http://schemas.openxmlformats.org/officeDocument/2006/relationships" r:id="R66f6fa5b56b64183"/>
              </a:rPr>
              <a:t>Deployed marketplace</a:t>
            </a:r>
          </a:p>
        </p:txBody>
      </p:sp>
      <p:sp>
        <p:nvSpPr>
          <p:cNvPr id="14" name="text-7-13">
            <a:extLst xmlns:a="http://schemas.openxmlformats.org/drawingml/2006/main">
              <a:ext uri="{FF2B5EF4-FFF2-40B4-BE49-F238E27FC236}">
                <a16:creationId xmlns:a16="http://schemas.microsoft.com/office/drawing/2014/main" id="{8D03E496-B074-470F-89B8-2D5B3DE100F2}"/>
              </a:ext>
            </a:extLst>
          </p:cNvPr>
          <p:cNvSpPr>
            <a:spLocks xmlns:a="http://schemas.openxmlformats.org/drawingml/2006/main" noGrp="1"/>
          </p:cNvSpPr>
          <p:nvPr/>
        </p:nvSpPr>
        <p:spPr>
          <a:xfrm xmlns:a="http://schemas.openxmlformats.org/drawingml/2006/main">
            <a:off x="685800" y="5448300"/>
            <a:ext cx="514350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F3EFE6"/>
                </a:solidFill>
                <a:latin typeface="IBM Plex Sans"/>
                <a:ea typeface="IBM Plex Sans"/>
                <a:cs typeface="IBM Plex Sans"/>
              </a:defRPr>
            </a:pPr>
            <a:r>
              <a:rPr sz="2025" b="0" u="sng">
                <a:solidFill>
                  <a:srgbClr val="F3EFE6"/>
                </a:solidFill>
                <a:latin typeface="IBM Plex Sans"/>
                <a:ea typeface="IBM Plex Sans"/>
                <a:cs typeface="IBM Plex Sans"/>
                <a:hlinkClick xmlns:r="http://schemas.openxmlformats.org/officeDocument/2006/relationships" r:id="R311fb7f749f74309"/>
              </a:rPr>
              <a:t>Marketplace source</a:t>
            </a:r>
          </a:p>
        </p:txBody>
      </p:sp>
      <p:sp>
        <p:nvSpPr>
          <p:cNvPr id="15" name="text-7-14">
            <a:extLst xmlns:a="http://schemas.openxmlformats.org/drawingml/2006/main">
              <a:ext uri="{FF2B5EF4-FFF2-40B4-BE49-F238E27FC236}">
                <a16:creationId xmlns:a16="http://schemas.microsoft.com/office/drawing/2014/main" id="{88C8A30F-CAD6-4458-A7D0-75A0ABCACE00}"/>
              </a:ext>
            </a:extLst>
          </p:cNvPr>
          <p:cNvSpPr>
            <a:spLocks xmlns:a="http://schemas.openxmlformats.org/drawingml/2006/main" noGrp="1"/>
          </p:cNvSpPr>
          <p:nvPr/>
        </p:nvSpPr>
        <p:spPr>
          <a:xfrm xmlns:a="http://schemas.openxmlformats.org/drawingml/2006/main">
            <a:off x="6762750" y="4972050"/>
            <a:ext cx="474345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F3EFE6"/>
                </a:solidFill>
                <a:latin typeface="IBM Plex Sans"/>
                <a:ea typeface="IBM Plex Sans"/>
                <a:cs typeface="IBM Plex Sans"/>
              </a:defRPr>
            </a:pPr>
            <a:r>
              <a:rPr sz="2025" b="0" u="sng">
                <a:solidFill>
                  <a:srgbClr val="F3EFE6"/>
                </a:solidFill>
                <a:latin typeface="IBM Plex Sans"/>
                <a:ea typeface="IBM Plex Sans"/>
                <a:cs typeface="IBM Plex Sans"/>
                <a:hlinkClick xmlns:r="http://schemas.openxmlformats.org/officeDocument/2006/relationships" r:id="Rc5050a6f3a9744e0"/>
              </a:rPr>
              <a:t>Deployed transfer hook</a:t>
            </a:r>
          </a:p>
        </p:txBody>
      </p:sp>
      <p:sp>
        <p:nvSpPr>
          <p:cNvPr id="16" name="text-7-15">
            <a:extLst xmlns:a="http://schemas.openxmlformats.org/drawingml/2006/main">
              <a:ext uri="{FF2B5EF4-FFF2-40B4-BE49-F238E27FC236}">
                <a16:creationId xmlns:a16="http://schemas.microsoft.com/office/drawing/2014/main" id="{800AE057-C16D-48C8-A3CC-942ECAEB3881}"/>
              </a:ext>
            </a:extLst>
          </p:cNvPr>
          <p:cNvSpPr>
            <a:spLocks xmlns:a="http://schemas.openxmlformats.org/drawingml/2006/main" noGrp="1"/>
          </p:cNvSpPr>
          <p:nvPr/>
        </p:nvSpPr>
        <p:spPr>
          <a:xfrm xmlns:a="http://schemas.openxmlformats.org/drawingml/2006/main">
            <a:off x="6762750" y="5448300"/>
            <a:ext cx="4743450" cy="365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F3EFE6"/>
                </a:solidFill>
                <a:latin typeface="IBM Plex Sans"/>
                <a:ea typeface="IBM Plex Sans"/>
                <a:cs typeface="IBM Plex Sans"/>
              </a:defRPr>
            </a:pPr>
            <a:r>
              <a:rPr sz="2025" b="0" u="sng">
                <a:solidFill>
                  <a:srgbClr val="F3EFE6"/>
                </a:solidFill>
                <a:latin typeface="IBM Plex Sans"/>
                <a:ea typeface="IBM Plex Sans"/>
                <a:cs typeface="IBM Plex Sans"/>
                <a:hlinkClick xmlns:r="http://schemas.openxmlformats.org/officeDocument/2006/relationships" r:id="R2d0528de4e7242bb"/>
              </a:rPr>
              <a:t>Transfer hook source</a:t>
            </a:r>
          </a:p>
        </p:txBody>
      </p:sp>
      <p:sp>
        <p:nvSpPr>
          <p:cNvPr id="17" name="text-7-16">
            <a:extLst xmlns:a="http://schemas.openxmlformats.org/drawingml/2006/main">
              <a:ext uri="{FF2B5EF4-FFF2-40B4-BE49-F238E27FC236}">
                <a16:creationId xmlns:a16="http://schemas.microsoft.com/office/drawing/2014/main" id="{BE666771-4D48-4FF8-96B4-83B9F640B5FC}"/>
              </a:ext>
            </a:extLst>
          </p:cNvPr>
          <p:cNvSpPr>
            <a:spLocks xmlns:a="http://schemas.openxmlformats.org/drawingml/2006/main" noGrp="1"/>
          </p:cNvSpPr>
          <p:nvPr/>
        </p:nvSpPr>
        <p:spPr>
          <a:xfrm xmlns:a="http://schemas.openxmlformats.org/drawingml/2006/main">
            <a:off x="685800" y="6115050"/>
            <a:ext cx="10096500" cy="2975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D9D2C3"/>
                </a:solidFill>
                <a:latin typeface="IBM Plex Sans"/>
                <a:ea typeface="IBM Plex Sans"/>
                <a:cs typeface="IBM Plex Sans"/>
              </a:defRPr>
            </a:pPr>
            <a:r>
              <a:rPr sz="1650" b="0" u="sng">
                <a:solidFill>
                  <a:srgbClr val="D9D2C3"/>
                </a:solidFill>
                <a:latin typeface="IBM Plex Sans"/>
                <a:ea typeface="IBM Plex Sans"/>
                <a:cs typeface="IBM Plex Sans"/>
                <a:hlinkClick xmlns:r="http://schemas.openxmlformats.org/officeDocument/2006/relationships" r:id="R31a66f10df8249ba"/>
              </a:rPr>
              <a:t>Token accounts have immutable owners to block an authority change.</a:t>
            </a:r>
          </a:p>
        </p:txBody>
      </p:sp>
    </p:spTree>
    <p:extLst>
      <p:ext uri="{BB962C8B-B14F-4D97-AF65-F5344CB8AC3E}">
        <p14:creationId xmlns:p14="http://schemas.microsoft.com/office/powerpoint/2010/main" val="298437476"/>
      </p:ext>
    </p:extLst>
  </p:cSld>
</p:sld>
</file>

<file path=ppt/slides/slide8.xml><?xml version="1.0" encoding="utf-8"?>
<p:sld xmlns:p="http://schemas.openxmlformats.org/presentationml/2006/main">
  <p:cSld>
    <p:bg>
      <p:bgPr>
        <a:solidFill xmlns:a="http://schemas.openxmlformats.org/drawingml/2006/main">
          <a:srgbClr val="FF4A1C"/>
        </a:solidFill>
      </p:bgPr>
    </p:bg>
    <p:spTree>
      <p:nvGrpSpPr>
        <p:cNvPr id="1" name=""/>
        <p:cNvGrpSpPr/>
        <p:nvPr/>
      </p:nvGrpSpPr>
      <p:grpSpPr>
        <a:xfrm xmlns:a="http://schemas.openxmlformats.org/drawingml/2006/main"/>
      </p:grpSpPr>
      <p:sp>
        <p:nvSpPr>
          <p:cNvPr id="4" name="text-8-0">
            <a:extLst xmlns:a="http://schemas.openxmlformats.org/drawingml/2006/main">
              <a:ext uri="{FF2B5EF4-FFF2-40B4-BE49-F238E27FC236}">
                <a16:creationId xmlns:a16="http://schemas.microsoft.com/office/drawing/2014/main" id="{C226B68D-0C8A-49FA-A08B-4EFB4E2E5FFF}"/>
              </a:ext>
            </a:extLst>
          </p:cNvPr>
          <p:cNvSpPr>
            <a:spLocks xmlns:a="http://schemas.openxmlformats.org/drawingml/2006/main" noGrp="1"/>
          </p:cNvSpPr>
          <p:nvPr/>
        </p:nvSpPr>
        <p:spPr>
          <a:xfrm xmlns:a="http://schemas.openxmlformats.org/drawingml/2006/main">
            <a:off x="11087100" y="6372225"/>
            <a:ext cx="495300" cy="2434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16130F"/>
                </a:solidFill>
                <a:latin typeface="IBM Plex Mono"/>
                <a:ea typeface="IBM Plex Mono"/>
                <a:cs typeface="IBM Plex Mono"/>
              </a:defRPr>
            </a:pPr>
            <a:r>
              <a:rPr sz="1350" b="0">
                <a:solidFill>
                  <a:srgbClr val="16130F"/>
                </a:solidFill>
                <a:latin typeface="IBM Plex Mono"/>
                <a:ea typeface="IBM Plex Mono"/>
                <a:cs typeface="IBM Plex Mono"/>
              </a:rPr>
              <a:t>08</a:t>
            </a:r>
          </a:p>
        </p:txBody>
      </p:sp>
      <p:sp>
        <p:nvSpPr>
          <p:cNvPr id="2" name="text-8-1">
            <a:extLst xmlns:a="http://schemas.openxmlformats.org/drawingml/2006/main">
              <a:ext uri="{FF2B5EF4-FFF2-40B4-BE49-F238E27FC236}">
                <a16:creationId xmlns:a16="http://schemas.microsoft.com/office/drawing/2014/main" id="{AA6E2DCD-3179-4635-8143-6ADF614959A1}"/>
              </a:ext>
            </a:extLst>
          </p:cNvPr>
          <p:cNvSpPr>
            <a:spLocks xmlns:a="http://schemas.openxmlformats.org/drawingml/2006/main" noGrp="1"/>
          </p:cNvSpPr>
          <p:nvPr/>
        </p:nvSpPr>
        <p:spPr>
          <a:xfrm xmlns:a="http://schemas.openxmlformats.org/drawingml/2006/main">
            <a:off x="685800" y="1847850"/>
            <a:ext cx="10820400" cy="18935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0500" b="1">
                <a:solidFill>
                  <a:srgbClr val="16130F"/>
                </a:solidFill>
                <a:latin typeface="Archivo"/>
                <a:ea typeface="Archivo"/>
                <a:cs typeface="Archivo"/>
              </a:defRPr>
            </a:pPr>
            <a:r>
              <a:rPr sz="10500" b="1">
                <a:solidFill>
                  <a:srgbClr val="16130F"/>
                </a:solidFill>
                <a:latin typeface="Archivo"/>
                <a:ea typeface="Archivo"/>
                <a:cs typeface="Archivo"/>
              </a:rPr>
              <a:t>fairtix.</a:t>
            </a:r>
          </a:p>
        </p:txBody>
      </p:sp>
      <p:sp>
        <p:nvSpPr>
          <p:cNvPr id="3" name="text-8-2">
            <a:extLst xmlns:a="http://schemas.openxmlformats.org/drawingml/2006/main">
              <a:ext uri="{FF2B5EF4-FFF2-40B4-BE49-F238E27FC236}">
                <a16:creationId xmlns:a16="http://schemas.microsoft.com/office/drawing/2014/main" id="{821B3790-3CE3-44B2-8303-F31C51A364C0}"/>
              </a:ext>
            </a:extLst>
          </p:cNvPr>
          <p:cNvSpPr>
            <a:spLocks xmlns:a="http://schemas.openxmlformats.org/drawingml/2006/main" noGrp="1"/>
          </p:cNvSpPr>
          <p:nvPr/>
        </p:nvSpPr>
        <p:spPr>
          <a:xfrm xmlns:a="http://schemas.openxmlformats.org/drawingml/2006/main">
            <a:off x="685800" y="4076700"/>
            <a:ext cx="10820400" cy="5951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300" b="0">
                <a:solidFill>
                  <a:srgbClr val="16130F"/>
                </a:solidFill>
                <a:latin typeface="IBM Plex Mono"/>
                <a:ea typeface="IBM Plex Mono"/>
                <a:cs typeface="IBM Plex Mono"/>
              </a:defRPr>
            </a:pPr>
            <a:r>
              <a:rPr sz="3300" b="0" u="sng">
                <a:solidFill>
                  <a:srgbClr val="16130F"/>
                </a:solidFill>
                <a:latin typeface="IBM Plex Mono"/>
                <a:ea typeface="IBM Plex Mono"/>
                <a:cs typeface="IBM Plex Mono"/>
                <a:hlinkClick xmlns:r="http://schemas.openxmlformats.org/officeDocument/2006/relationships" r:id="R2b57c2450a9740fe"/>
              </a:rPr>
              <a:t>fairtix-whu.vercel.app/demo</a:t>
            </a:r>
          </a:p>
        </p:txBody>
      </p:sp>
    </p:spTree>
    <p:extLst>
      <p:ext uri="{BB962C8B-B14F-4D97-AF65-F5344CB8AC3E}">
        <p14:creationId xmlns:p14="http://schemas.microsoft.com/office/powerpoint/2010/main" val="1380779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2026-10-02T19:07:12.0270000Z</dcterms:created>
  <dcterms:modified xsi:type="dcterms:W3CDTF">2026-10-02T19:07:12.0270000Z</dcterms:modified>
</coreProperties>
</file>