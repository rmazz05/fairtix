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9ba79f4d14432" /><Relationship Type="http://schemas.openxmlformats.org/officeDocument/2006/relationships/extended-properties" Target="/docProps/app.xml" Id="R935155799dad40b0" /><Relationship Type="http://schemas.openxmlformats.org/officeDocument/2006/relationships/officeDocument" Target="/ppt/presentation.xml" Id="Rff582ca7dbd94c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804599e9c42fd"/>
  </p:sldMasterIdLst>
  <p:notesMasterIdLst>
    <p:notesMasterId xmlns:r="http://schemas.openxmlformats.org/officeDocument/2006/relationships" r:id="R99eb24842a6144e5"/>
  </p:notesMasterIdLst>
  <p:sldIdLst>
    <p:sldId xmlns:r="http://schemas.openxmlformats.org/officeDocument/2006/relationships" id="256" r:id="Re0ea6dc1cabb47d9"/>
    <p:sldId xmlns:r="http://schemas.openxmlformats.org/officeDocument/2006/relationships" id="257" r:id="R3a3c0140a2bb4f14"/>
    <p:sldId xmlns:r="http://schemas.openxmlformats.org/officeDocument/2006/relationships" id="258" r:id="Rd3d31983052b4b3b"/>
    <p:sldId xmlns:r="http://schemas.openxmlformats.org/officeDocument/2006/relationships" id="259" r:id="R9892583c2ddd4502"/>
    <p:sldId xmlns:r="http://schemas.openxmlformats.org/officeDocument/2006/relationships" id="260" r:id="R0483624684b84428"/>
    <p:sldId xmlns:r="http://schemas.openxmlformats.org/officeDocument/2006/relationships" id="261" r:id="Rb1a3cf5a90a34702"/>
    <p:sldId xmlns:r="http://schemas.openxmlformats.org/officeDocument/2006/relationships" id="262" r:id="R2805b957e1c5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d9f491d3d4ccb" /><Relationship Type="http://schemas.openxmlformats.org/officeDocument/2006/relationships/slideMaster" Target="/ppt/slideMasters/slideMaster1.xml" Id="R07b804599e9c42fd" /><Relationship Type="http://schemas.openxmlformats.org/officeDocument/2006/relationships/notesMaster" Target="/ppt/notesMasters/notesMaster1.xml" Id="R99eb24842a6144e5" /><Relationship Type="http://schemas.openxmlformats.org/officeDocument/2006/relationships/presProps" Target="/ppt/presProps.xml" Id="Ra1a70b4e082a4c71" /><Relationship Type="http://schemas.openxmlformats.org/officeDocument/2006/relationships/tableStyles" Target="/ppt/tableStyles.xml" Id="R0af4c8b2f4574bf4" /><Relationship Type="http://schemas.openxmlformats.org/officeDocument/2006/relationships/slide" Target="/ppt/slides/slide1.xml" Id="Re0ea6dc1cabb47d9" /><Relationship Type="http://schemas.openxmlformats.org/officeDocument/2006/relationships/slide" Target="/ppt/slides/slide2.xml" Id="R3a3c0140a2bb4f14" /><Relationship Type="http://schemas.openxmlformats.org/officeDocument/2006/relationships/slide" Target="/ppt/slides/slide3.xml" Id="Rd3d31983052b4b3b" /><Relationship Type="http://schemas.openxmlformats.org/officeDocument/2006/relationships/slide" Target="/ppt/slides/slide4.xml" Id="R9892583c2ddd4502" /><Relationship Type="http://schemas.openxmlformats.org/officeDocument/2006/relationships/slide" Target="/ppt/slides/slide5.xml" Id="R0483624684b84428" /><Relationship Type="http://schemas.openxmlformats.org/officeDocument/2006/relationships/slide" Target="/ppt/slides/slide6.xml" Id="Rb1a3cf5a90a34702" /><Relationship Type="http://schemas.openxmlformats.org/officeDocument/2006/relationships/slide" Target="/ppt/slides/slide7.xml" Id="R2805b957e1c5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34ed48032b4f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bd9379b8f4ab2" /><Relationship Type="http://schemas.openxmlformats.org/officeDocument/2006/relationships/notesMaster" Target="/ppt/notesMasters/notesMaster1.xml" Id="Rf98a0c93e8ab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b71bd4cfe444aa" /><Relationship Type="http://schemas.openxmlformats.org/officeDocument/2006/relationships/notesMaster" Target="/ppt/notesMasters/notesMaster1.xml" Id="Rd69613eaf89349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8ddaa19b1c49be" /><Relationship Type="http://schemas.openxmlformats.org/officeDocument/2006/relationships/notesMaster" Target="/ppt/notesMasters/notesMaster1.xml" Id="R14e9f740b20942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657fb6e2c4406" /><Relationship Type="http://schemas.openxmlformats.org/officeDocument/2006/relationships/notesMaster" Target="/ppt/notesMasters/notesMaster1.xml" Id="Re9fa52a21b0646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5469a41d2e4ca3" /><Relationship Type="http://schemas.openxmlformats.org/officeDocument/2006/relationships/notesMaster" Target="/ppt/notesMasters/notesMaster1.xml" Id="R4a0a28a8fe0d44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46893fa774402" /><Relationship Type="http://schemas.openxmlformats.org/officeDocument/2006/relationships/notesMaster" Target="/ppt/notesMasters/notesMaster1.xml" Id="R82e76f3b804149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ac9eeb4f94c7f" /><Relationship Type="http://schemas.openxmlformats.org/officeDocument/2006/relationships/notesMaster" Target="/ppt/notesMasters/notesMaster1.xml" Id="Rc4aef986800d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 Problem framing is a product hypothesis, not a quantified market claim. €25 / €60 is the demonstration scenario supplied in the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 The hook enforces Token-2022 transfers, including direct signed transfers. ImmutableOwner closes the token-account-owner-change route. The programs retain a development upgrade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 Illustrative business model only. 400 primary tickets × €15; 80 resales × €18; organizer sets a 20% cap and 5% royalty. 3% primary fee = €180; 2% resale fee = €28.80; 5% resale royalty = €72. No revenue or customer traction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 First customer plan is prospective. No club interview, testimonial, letter of intent or commitment has been obtained. The source brief requests a real club quote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Fairtix PRD &amp; Design Guide; implementation in https://github.com/rmazz05/fairtix. Program verification: docs/chain-verification.json. Screenshots show genuine local validator transactions, not devnet deployment. Public rollout awaits devnet sponsor funding and a Privy application ID. Mainnet, real-money payments, check-in, seats, refunds and identity checks are not in this MVP. Future programs need independent security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3fe3cdf3b48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0ae7ee3b2486b" /><Relationship Type="http://schemas.openxmlformats.org/officeDocument/2006/relationships/slideLayout" Target="/ppt/slideLayouts/slideLayout1.xml" Id="R91f455e75b284c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f455e75b284c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d3f9daede4dea" /><Relationship Type="http://schemas.openxmlformats.org/officeDocument/2006/relationships/notesSlide" Target="/ppt/notesSlides/notesSlide1.xml" Id="Rbd695a79fda0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0b1a66d504681" /><Relationship Type="http://schemas.openxmlformats.org/officeDocument/2006/relationships/notesSlide" Target="/ppt/notesSlides/notesSlide2.xml" Id="R872613d2ded341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0dd2ee8f849ef" /><Relationship Type="http://schemas.openxmlformats.org/officeDocument/2006/relationships/image" Target="/ppt/media/image.jpeg" Id="R982138921cdc46a7" /><Relationship Type="http://schemas.openxmlformats.org/officeDocument/2006/relationships/notesSlide" Target="/ppt/notesSlides/notesSlide3.xml" Id="R9b645e2dfcc14c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89b90188645c0" /><Relationship Type="http://schemas.openxmlformats.org/officeDocument/2006/relationships/image" Target="/ppt/media/image2.jpeg" Id="R5c63db05c752437b" /><Relationship Type="http://schemas.openxmlformats.org/officeDocument/2006/relationships/notesSlide" Target="/ppt/notesSlides/notesSlide4.xml" Id="Rff2fad5f1ef640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2952e48c44152" /><Relationship Type="http://schemas.openxmlformats.org/officeDocument/2006/relationships/notesSlide" Target="/ppt/notesSlides/notesSlide5.xml" Id="R487c30b056bb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734a6cb6f453a" /><Relationship Type="http://schemas.openxmlformats.org/officeDocument/2006/relationships/notesSlide" Target="/ppt/notesSlides/notesSlide6.xml" Id="R9edb5f9bf0874e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c9d9db9604264" /><Relationship Type="http://schemas.openxmlformats.org/officeDocument/2006/relationships/notesSlide" Target="/ppt/notesSlides/notesSlide7.xml" Id="R55441861706a4e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C3B09-29A0-4E9B-9596-5238B6AE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52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84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fairtix.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C9E84-DB60-4631-86AC-D7E4B05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42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Tickets with a resale cap.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FB0B8-B55D-4123-928A-5433194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For student events and small venues.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0C95D-A544-4F79-98CC-869D3C1E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WHU Solana MVP · 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88622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AD9FA-C00D-4E6E-A26D-0232910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A resale policy stops at the checkout.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B6D2A-B33F-4178-93FC-E6920E33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A club can set a resale price in its own app.</a:t>
            </a:r>
          </a:p>
          <a:p xmlns:a="http://schemas.openxmlformats.org/drawingml/2006/main">
            <a:pPr>
              <a:defRPr sz="24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Once a ticket moves elsewhere, that policy</a:t>
            </a:r>
          </a:p>
          <a:p xmlns:a="http://schemas.openxmlformats.org/drawingml/2006/main">
            <a:pPr>
              <a:defRPr sz="24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needs a way to travel with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4D4C-6C82-433D-8D27-2AA944D2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The test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7BC39-81B1-485C-8543-037CB78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620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0">
                <a:solidFill>
                  <a:srgbClr val="16130F"/>
                </a:solidFill>
                <a:latin typeface="IBM Plex Mono"/>
                <a:ea typeface="IBM Plex Mono"/>
                <a:cs typeface="IBM Plex Mono"/>
              </a:rPr>
              <a:t>€25.00 face price</a:t>
            </a:r>
          </a:p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0">
                <a:solidFill>
                  <a:srgbClr val="16130F"/>
                </a:solidFill>
                <a:latin typeface="IBM Plex Mono"/>
                <a:ea typeface="IBM Plex Mono"/>
                <a:cs typeface="IBM Plex Mono"/>
              </a:rPr>
              <a:t>€27.50 allowed resale</a:t>
            </a:r>
          </a:p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0">
                <a:solidFill>
                  <a:srgbClr val="16130F"/>
                </a:solidFill>
                <a:latin typeface="IBM Plex Mono"/>
                <a:ea typeface="IBM Plex Mono"/>
                <a:cs typeface="IBM Plex Mono"/>
              </a:rPr>
              <a:t>€60.00 asking price refused</a:t>
            </a:r>
          </a:p>
        </p:txBody>
      </p:sp>
    </p:spTree>
    <p:extLst>
      <p:ext uri="{BB962C8B-B14F-4D97-AF65-F5344CB8AC3E}">
        <p14:creationId xmlns:p14="http://schemas.microsoft.com/office/powerpoint/2010/main" val="1033828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B4A5B-5AF2-4E6C-9A6C-0103637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Buy it. Resell it within the cap.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38921cdc46a7"/>
          <a:stretch xmlns:a="http://schemas.openxmlformats.org/drawingml/2006/main"/>
        </p:blipFill>
        <p:spPr>
          <a:xfrm xmlns:a="http://schemas.openxmlformats.org/drawingml/2006/main">
            <a:off x="685800" y="1828800"/>
            <a:ext cx="7162800" cy="40290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16373-0F21-45F6-A45C-DE476CA6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3200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 organizer sets</a:t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 cap and royalty.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A fan buys, lists or</a:t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cancels a listing.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 ticket and payment</a:t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move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61DDA-80E0-48AE-8CD2-2967B441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Actual local demo. The €60 listing fails; the seller keeps the ticket.</a:t>
            </a:r>
          </a:p>
        </p:txBody>
      </p:sp>
    </p:spTree>
    <p:extLst>
      <p:ext uri="{BB962C8B-B14F-4D97-AF65-F5344CB8AC3E}">
        <p14:creationId xmlns:p14="http://schemas.microsoft.com/office/powerpoint/2010/main" val="1137887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19391-F531-472D-A576-C8AFDD82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The rule is checked outside our website.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2984A-7FCB-408C-A451-C6786A8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Token-2022 calls the hook when a ticket moves.</a:t>
            </a:r>
          </a:p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A direct send is refused, even if its holder signs it.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3db05c752437b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219450"/>
            <a:ext cx="6096000" cy="2743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A2AEF-01E5-4646-B573-032B8377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2672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 marketplace owns escrow.</a:t>
            </a:r>
          </a:p>
          <a:p xmlns:a="http://schemas.openxmlformats.org/drawingml/2006/main">
            <a:pPr>
              <a:def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It checks the asking price, then</a:t>
            </a:r>
          </a:p>
          <a:p xmlns:a="http://schemas.openxmlformats.org/drawingml/2006/main">
            <a:pPr>
              <a:def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splits payment and delivers the</a:t>
            </a:r>
          </a:p>
          <a:p xmlns:a="http://schemas.openxmlformats.org/drawingml/2006/main">
            <a:pPr>
              <a:def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ticket in one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A failed payment rolls it all 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77C38-1F50-439D-9339-BB38555C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Software upgrades and cash side deals remain possible. The demo claims neither immutability nor perfect anti-scalping.</a:t>
            </a:r>
          </a:p>
        </p:txBody>
      </p:sp>
    </p:spTree>
    <p:extLst>
      <p:ext uri="{BB962C8B-B14F-4D97-AF65-F5344CB8AC3E}">
        <p14:creationId xmlns:p14="http://schemas.microsoft.com/office/powerpoint/2010/main" val="36867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FF82A-F6D8-4D2C-80CE-3E30F8A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3% on primary sales. 2% on resales.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DB032-538D-4BB8-AB2D-B8213ED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 organizer chooses a resale royalty of up to 10%.</a:t>
            </a:r>
          </a:p>
          <a:p xmlns:a="http://schemas.openxmlformats.org/drawingml/2006/main">
            <a:pPr>
              <a:defRPr sz="21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Buyers pay the displayed price, with no added buyer fee.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327660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86100"/>
                <a:gridCol w="2781300"/>
                <a:gridCol w="2324100"/>
                <a:gridCol w="26289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Example event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Volume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Fairtix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Resale royalty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Primary sales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400 × €15.00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€180.00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—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Resales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80 × €18.00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€28.80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€72.00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Total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/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€208.80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6130F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€72.00</a:t>
                      </a:r>
                    </a:p>
                  </a:txBody>
                  <a:tcPr marL="152400" marR="152400" marT="114300" marB="114300">
                    <a:solidFill>
                      <a:srgbClr val="F3EFE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342B4-B272-43B8-A3EF-8FCD512C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Assumptions: one 400-ticket event; 20% resale rate; 20% price cap; 5% organizer royalty. No observed revenue.</a:t>
            </a:r>
          </a:p>
        </p:txBody>
      </p:sp>
    </p:spTree>
    <p:extLst>
      <p:ext uri="{BB962C8B-B14F-4D97-AF65-F5344CB8AC3E}">
        <p14:creationId xmlns:p14="http://schemas.microsoft.com/office/powerpoint/2010/main" val="1419365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808DB-F812-4944-B32A-4F2339B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One club event before a public rollout.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E6F5C-F919-4776-9707-A5723B4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First pilot to seek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3F394-7D78-41D7-8FBD-14414FE4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181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255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A WHU student club with</a:t>
            </a:r>
          </a:p>
          <a:p xmlns:a="http://schemas.openxmlformats.org/drawingml/2006/main">
            <a:pPr>
              <a:defRPr sz="255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255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a general-admission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B9BBF-7F37-4689-AF1E-FB8E709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562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Use one event to check whether fans</a:t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complete a resale and organizers find</a:t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 cap and royalty worth adopting.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D79A3-38A6-42FC-A648-26D97451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Questions for the organizer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E05E4-EA75-493F-B498-C3202DC6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42672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How do you handle resales today?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Which price cap would you set?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What must work at the door</a:t>
            </a:r>
          </a:p>
          <a:p xmlns:a="http://schemas.openxmlformats.org/drawingml/2006/main">
            <a:pPr>
              <a:def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before you use this?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4ECDE-276B-4557-AD85-DFE6D86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No organizer quote, interview or commitment is claimed yet.</a:t>
            </a:r>
          </a:p>
        </p:txBody>
      </p:sp>
    </p:spTree>
    <p:extLst>
      <p:ext uri="{BB962C8B-B14F-4D97-AF65-F5344CB8AC3E}">
        <p14:creationId xmlns:p14="http://schemas.microsoft.com/office/powerpoint/2010/main" val="63143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6D673-2731-4A43-88DF-3F527D07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130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6130F"/>
                </a:solidFill>
                <a:latin typeface="Archivo"/>
                <a:ea typeface="Archivo"/>
                <a:cs typeface="Archivo"/>
              </a:rPr>
              <a:t>Next: use it at an actual door.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8DC2F-1763-43F1-9F50-3F1C310E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Working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ADB5C-F1B4-4A73-B316-5CE0139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1816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Marketplace and transfer hook.</a:t>
            </a:r>
          </a:p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Four product screens.</a:t>
            </a:r>
          </a:p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Sponsored test transactions.</a:t>
            </a:r>
          </a:p>
          <a:p xmlns:a="http://schemas.openxmlformats.org/drawingml/2006/main">
            <a:pPr>
              <a:def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Real local chain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67C78-516B-44CF-837E-DBE2A0FA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80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Before a real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F3151-1A8C-4D28-935A-F96AF247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4267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Door check-in and refunds.</a:t>
            </a:r>
          </a:p>
          <a:p xmlns:a="http://schemas.openxmlformats.org/drawingml/2006/main">
            <a:pPr>
              <a:def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Euro payments and identity checks.</a:t>
            </a:r>
          </a:p>
          <a:p xmlns:a="http://schemas.openxmlformats.org/drawingml/2006/main">
            <a:pPr>
              <a:def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Independent program review.</a:t>
            </a:r>
          </a:p>
          <a:p xmlns:a="http://schemas.openxmlformats.org/drawingml/2006/main">
            <a:pPr>
              <a:def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16130F"/>
                </a:solidFill>
                <a:latin typeface="IBM Plex Sans"/>
                <a:ea typeface="IBM Plex Sans"/>
                <a:cs typeface="IBM Plex Sans"/>
              </a:rPr>
              <a:t>Then a real organizer trial.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19BF7-819D-4574-A242-AAF0889B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Devnet awaits test SOL. Email sign-in awaits Privy configuration.</a:t>
            </a:r>
          </a:p>
          <a:p xmlns:a="http://schemas.openxmlformats.org/drawingml/2006/main">
            <a:pPr>
              <a:defRPr sz="16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defRPr>
            </a:pPr>
            <a:r>
              <a:rPr sz="1650" b="0">
                <a:solidFill>
                  <a:srgbClr val="5B554C"/>
                </a:solidFill>
                <a:latin typeface="IBM Plex Sans"/>
                <a:ea typeface="IBM Plex Sans"/>
                <a:cs typeface="IBM Plex Sans"/>
              </a:rPr>
              <a:t>Cash side deals remain possible; development upgrade authority is retained.</a:t>
            </a:r>
          </a:p>
        </p:txBody>
      </p:sp>
    </p:spTree>
    <p:extLst>
      <p:ext uri="{BB962C8B-B14F-4D97-AF65-F5344CB8AC3E}">
        <p14:creationId xmlns:p14="http://schemas.microsoft.com/office/powerpoint/2010/main" val="9270821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2026-10-01T23:31:04.8420000Z</dcterms:created>
  <dcterms:modified xsi:type="dcterms:W3CDTF">2026-10-01T23:31:04.8420000Z</dcterms:modified>
</coreProperties>
</file>