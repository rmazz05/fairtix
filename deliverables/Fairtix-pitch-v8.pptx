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1f2cbe571e4e83" /><Relationship Type="http://schemas.openxmlformats.org/officeDocument/2006/relationships/extended-properties" Target="/docProps/app.xml" Id="Rcd3fb75a32994a74" /><Relationship Type="http://schemas.openxmlformats.org/officeDocument/2006/relationships/officeDocument" Target="/ppt/presentation.xml" Id="R67019d280e154475" /></Relationships>
</file>

<file path=ppt/presentation.xml><?xml version="1.0" encoding="utf-8"?>
<p:presentation xmlns:p="http://schemas.openxmlformats.org/presentationml/2006/main">
  <p:sldMasterIdLst>
    <p:sldMasterId xmlns:r="http://schemas.openxmlformats.org/officeDocument/2006/relationships" id="2147483648" r:id="R9318a51d94414e37"/>
  </p:sldMasterIdLst>
  <p:notesMasterIdLst>
    <p:notesMasterId xmlns:r="http://schemas.openxmlformats.org/officeDocument/2006/relationships" r:id="Re1e01f5d7bf24b40"/>
  </p:notesMasterIdLst>
  <p:sldIdLst>
    <p:sldId xmlns:r="http://schemas.openxmlformats.org/officeDocument/2006/relationships" id="256" r:id="Ra575d2ac23f945fe"/>
    <p:sldId xmlns:r="http://schemas.openxmlformats.org/officeDocument/2006/relationships" id="257" r:id="R284054645ff1404f"/>
    <p:sldId xmlns:r="http://schemas.openxmlformats.org/officeDocument/2006/relationships" id="258" r:id="R397d90b960554a60"/>
    <p:sldId xmlns:r="http://schemas.openxmlformats.org/officeDocument/2006/relationships" id="259" r:id="R3b50e2b98f3b4e01"/>
    <p:sldId xmlns:r="http://schemas.openxmlformats.org/officeDocument/2006/relationships" id="260" r:id="R101630931f234bb8"/>
    <p:sldId xmlns:r="http://schemas.openxmlformats.org/officeDocument/2006/relationships" id="261" r:id="Rbbacad92a6324437"/>
    <p:sldId xmlns:r="http://schemas.openxmlformats.org/officeDocument/2006/relationships" id="262" r:id="Re2d0d71b056e4c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8c8c6f2e614820" /><Relationship Type="http://schemas.openxmlformats.org/officeDocument/2006/relationships/slideMaster" Target="/ppt/slideMasters/slideMaster1.xml" Id="R9318a51d94414e37" /><Relationship Type="http://schemas.openxmlformats.org/officeDocument/2006/relationships/notesMaster" Target="/ppt/notesMasters/notesMaster1.xml" Id="Re1e01f5d7bf24b40" /><Relationship Type="http://schemas.openxmlformats.org/officeDocument/2006/relationships/presProps" Target="/ppt/presProps.xml" Id="R560bf415dff34335" /><Relationship Type="http://schemas.openxmlformats.org/officeDocument/2006/relationships/tableStyles" Target="/ppt/tableStyles.xml" Id="Rc04248d32cea4ad9" /><Relationship Type="http://schemas.openxmlformats.org/officeDocument/2006/relationships/slide" Target="/ppt/slides/slide1.xml" Id="Ra575d2ac23f945fe" /><Relationship Type="http://schemas.openxmlformats.org/officeDocument/2006/relationships/slide" Target="/ppt/slides/slide2.xml" Id="R284054645ff1404f" /><Relationship Type="http://schemas.openxmlformats.org/officeDocument/2006/relationships/slide" Target="/ppt/slides/slide3.xml" Id="R397d90b960554a60" /><Relationship Type="http://schemas.openxmlformats.org/officeDocument/2006/relationships/slide" Target="/ppt/slides/slide4.xml" Id="R3b50e2b98f3b4e01" /><Relationship Type="http://schemas.openxmlformats.org/officeDocument/2006/relationships/slide" Target="/ppt/slides/slide5.xml" Id="R101630931f234bb8" /><Relationship Type="http://schemas.openxmlformats.org/officeDocument/2006/relationships/slide" Target="/ppt/slides/slide6.xml" Id="Rbbacad92a6324437" /><Relationship Type="http://schemas.openxmlformats.org/officeDocument/2006/relationships/slide" Target="/ppt/slides/slide7.xml" Id="Re2d0d71b056e4c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62640a37454e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10235a3331461b" /><Relationship Type="http://schemas.openxmlformats.org/officeDocument/2006/relationships/notesMaster" Target="/ppt/notesMasters/notesMaster1.xml" Id="R48a4c39080654f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2cb31d486f49c9" /><Relationship Type="http://schemas.openxmlformats.org/officeDocument/2006/relationships/notesMaster" Target="/ppt/notesMasters/notesMaster1.xml" Id="Re255cc35ed4348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83df45fcee4051" /><Relationship Type="http://schemas.openxmlformats.org/officeDocument/2006/relationships/notesMaster" Target="/ppt/notesMasters/notesMaster1.xml" Id="R07163eedd6b040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767b84fc744f5a" /><Relationship Type="http://schemas.openxmlformats.org/officeDocument/2006/relationships/notesMaster" Target="/ppt/notesMasters/notesMaster1.xml" Id="R3255a0d7a7144f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e1bc201858448c" /><Relationship Type="http://schemas.openxmlformats.org/officeDocument/2006/relationships/notesMaster" Target="/ppt/notesMasters/notesMaster1.xml" Id="R98c00c54625c44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f788fa2aec4478" /><Relationship Type="http://schemas.openxmlformats.org/officeDocument/2006/relationships/notesMaster" Target="/ppt/notesMasters/notesMaster1.xml" Id="R5b8168f109fc45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fc00e4708e4354" /><Relationship Type="http://schemas.openxmlformats.org/officeDocument/2006/relationships/notesMaster" Target="/ppt/notesMasters/notesMaster1.xml" Id="Rdd7ef662bdf644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Fairtix PRD &amp; Design Guide; implementation in https://github.com/rmazz05/fairtix. Program verification: docs/chain-verification.json. Screenshots show genuine devnet transactions through public and local browser interfaces. Both programs are publicly deployed on devnet.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Fairtix PRD &amp; Design Guide; implementation in https://github.com/rmazz05/fairtix. Program verification: docs/chain-verification.json. Screenshots show genuine devnet transactions through public and local browser interfaces. Both programs are publicly deployed on devnet. Problem framing is a product hypothesis, not a quantified market claim. €25 / €60 is the demonstration scenario supplied in the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Fairtix PRD &amp; Design Guide; implementation in https://github.com/rmazz05/fairtix. Program verification: docs/chain-verification.json. Screenshots show genuine devnet transactions through public and local browser interfaces. Both programs are publicly deployed on devnet.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Fairtix PRD &amp; Design Guide; implementation in https://github.com/rmazz05/fairtix. Program verification: docs/chain-verification.json. Screenshots show genuine devnet transactions through public and local browser interfaces. Both programs are publicly deployed on devnet. The hook enforces Token-2022 transfers, including direct signed transfers. ImmutableOwner closes the token-account-owner-change route. The programs retain a development upgrade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Fairtix PRD &amp; Design Guide; implementation in https://github.com/rmazz05/fairtix. Program verification: docs/chain-verification.json. Screenshots show genuine devnet transactions through public and local browser interfaces. Both programs are publicly deployed on devnet. Illustrative business model only. 400 primary tickets × €15; 80 resales × €18; organizer sets a 20% cap and 5% royalty. 3% primary fee = €180; 2% resale fee = €28.80; 5% resale royalty = €72. No revenue or customer traction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Fairtix PRD &amp; Design Guide; implementation in https://github.com/rmazz05/fairtix. Program verification: docs/chain-verification.json. Screenshots show genuine devnet transactions through public and local browser interfaces. Both programs are publicly deployed on devnet. First customer plan is prospective. No club interview, testimonial, letter of intent or commitment has been obtained. The quote suggested by the product brief is optional for the bounty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Fairtix PRD &amp; Design Guide; implementation in https://github.com/rmazz05/fairtix. Program verification: docs/chain-verification.json. Screenshots show genuine devnet transactions through public and local browser interfaces. Both programs are publicly deployed on devnet. The two programs are deployed on devnet. The project owner confirmed email login and an embedded-wallet transaction. Mainnet, real-money payments, check-in, seats, refunds and identity checks are not in this MVP. Future programs need independent security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425a16b3ba46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4de4eb7d264377" /><Relationship Type="http://schemas.openxmlformats.org/officeDocument/2006/relationships/slideLayout" Target="/ppt/slideLayouts/slideLayout1.xml" Id="R1c766c4e12134b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766c4e12134b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b52e87564c4f6f" /><Relationship Type="http://schemas.openxmlformats.org/officeDocument/2006/relationships/notesSlide" Target="/ppt/notesSlides/notesSlide1.xml" Id="R66a575d356ce40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f1b9e82e154da0" /><Relationship Type="http://schemas.openxmlformats.org/officeDocument/2006/relationships/notesSlide" Target="/ppt/notesSlides/notesSlide2.xml" Id="R60ec9d8e733440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9136f2418847ff" /><Relationship Type="http://schemas.openxmlformats.org/officeDocument/2006/relationships/image" Target="/ppt/media/image.jpeg" Id="R9ee28e45ccef4184" /><Relationship Type="http://schemas.openxmlformats.org/officeDocument/2006/relationships/notesSlide" Target="/ppt/notesSlides/notesSlide3.xml" Id="Re163a640dc974f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4d2e395699740be" /><Relationship Type="http://schemas.openxmlformats.org/officeDocument/2006/relationships/image" Target="/ppt/media/image2.jpeg" Id="Re4ee4689744740ad" /><Relationship Type="http://schemas.openxmlformats.org/officeDocument/2006/relationships/notesSlide" Target="/ppt/notesSlides/notesSlide4.xml" Id="R0dfc28114f8549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92605800394850" /><Relationship Type="http://schemas.openxmlformats.org/officeDocument/2006/relationships/notesSlide" Target="/ppt/notesSlides/notesSlide5.xml" Id="Ra8e450cc5a4e43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549a4e513b404c" /><Relationship Type="http://schemas.openxmlformats.org/officeDocument/2006/relationships/notesSlide" Target="/ppt/notesSlides/notesSlide6.xml" Id="Rfe5087b50e5b4d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82cd3ef2c8a4ac0" /><Relationship Type="http://schemas.openxmlformats.org/officeDocument/2006/relationships/notesSlide" Target="/ppt/notesSlides/notesSlide7.xml" Id="R1e6768c3bb7e402f" /></Relationships>
</file>

<file path=ppt/slides/slide1.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BF518D-90C0-427D-B8D7-89E8434A1739}"/>
              </a:ext>
            </a:extLst>
          </p:cNvPr>
          <p:cNvSpPr>
            <a:spLocks xmlns:a="http://schemas.openxmlformats.org/drawingml/2006/main" noGrp="1"/>
          </p:cNvSpPr>
          <p:nvPr/>
        </p:nvSpPr>
        <p:spPr>
          <a:xfrm xmlns:a="http://schemas.openxmlformats.org/drawingml/2006/main">
            <a:off x="685800" y="723900"/>
            <a:ext cx="9525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400" b="1">
                <a:solidFill>
                  <a:srgbClr val="16130F"/>
                </a:solidFill>
                <a:latin typeface="Archivo"/>
                <a:ea typeface="Archivo"/>
                <a:cs typeface="Archivo"/>
              </a:defRPr>
            </a:pPr>
            <a:r>
              <a:rPr sz="8400" b="1">
                <a:solidFill>
                  <a:srgbClr val="16130F"/>
                </a:solidFill>
                <a:latin typeface="Archivo"/>
                <a:ea typeface="Archivo"/>
                <a:cs typeface="Archivo"/>
              </a:rPr>
              <a:t>fairtix.</a:t>
            </a:r>
          </a:p>
        </p:txBody>
      </p:sp>
      <p:sp>
        <p:nvSpPr>
          <p:cNvPr id="2" name="">
            <a:extLst xmlns:a="http://schemas.openxmlformats.org/drawingml/2006/main">
              <a:ext uri="{FF2B5EF4-FFF2-40B4-BE49-F238E27FC236}">
                <a16:creationId xmlns:a16="http://schemas.microsoft.com/office/drawing/2014/main" id="{5F912A2D-FA9A-42AB-B7D4-5B8E610DB813}"/>
              </a:ext>
            </a:extLst>
          </p:cNvPr>
          <p:cNvSpPr>
            <a:spLocks xmlns:a="http://schemas.openxmlformats.org/drawingml/2006/main" noGrp="1"/>
          </p:cNvSpPr>
          <p:nvPr/>
        </p:nvSpPr>
        <p:spPr>
          <a:xfrm xmlns:a="http://schemas.openxmlformats.org/drawingml/2006/main">
            <a:off x="685800" y="25717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200" b="1">
                <a:solidFill>
                  <a:srgbClr val="16130F"/>
                </a:solidFill>
                <a:latin typeface="Archivo"/>
                <a:ea typeface="Archivo"/>
                <a:cs typeface="Archivo"/>
              </a:defRPr>
            </a:pPr>
            <a:r>
              <a:rPr sz="4200" b="1">
                <a:solidFill>
                  <a:srgbClr val="16130F"/>
                </a:solidFill>
                <a:latin typeface="Archivo"/>
                <a:ea typeface="Archivo"/>
                <a:cs typeface="Archivo"/>
              </a:rPr>
              <a:t>Tickets with a resale cap.</a:t>
            </a:r>
          </a:p>
        </p:txBody>
      </p:sp>
      <p:sp>
        <p:nvSpPr>
          <p:cNvPr id="3" name="">
            <a:extLst xmlns:a="http://schemas.openxmlformats.org/drawingml/2006/main">
              <a:ext uri="{FF2B5EF4-FFF2-40B4-BE49-F238E27FC236}">
                <a16:creationId xmlns:a16="http://schemas.microsoft.com/office/drawing/2014/main" id="{E12A6283-B4BD-4189-9017-7F3B65ECB3A0}"/>
              </a:ext>
            </a:extLst>
          </p:cNvPr>
          <p:cNvSpPr>
            <a:spLocks xmlns:a="http://schemas.openxmlformats.org/drawingml/2006/main" noGrp="1"/>
          </p:cNvSpPr>
          <p:nvPr/>
        </p:nvSpPr>
        <p:spPr>
          <a:xfrm xmlns:a="http://schemas.openxmlformats.org/drawingml/2006/main">
            <a:off x="685800" y="381000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250" b="0">
                <a:solidFill>
                  <a:srgbClr val="16130F"/>
                </a:solidFill>
                <a:latin typeface="IBM Plex Sans"/>
                <a:ea typeface="IBM Plex Sans"/>
                <a:cs typeface="IBM Plex Sans"/>
              </a:defRPr>
            </a:pPr>
            <a:r>
              <a:rPr sz="2250" b="0">
                <a:solidFill>
                  <a:srgbClr val="16130F"/>
                </a:solidFill>
                <a:latin typeface="IBM Plex Sans"/>
                <a:ea typeface="IBM Plex Sans"/>
                <a:cs typeface="IBM Plex Sans"/>
              </a:rPr>
              <a:t>For student events and small venues.</a:t>
            </a:r>
          </a:p>
        </p:txBody>
      </p:sp>
      <p:sp>
        <p:nvSpPr>
          <p:cNvPr id="4" name="">
            <a:extLst xmlns:a="http://schemas.openxmlformats.org/drawingml/2006/main">
              <a:ext uri="{FF2B5EF4-FFF2-40B4-BE49-F238E27FC236}">
                <a16:creationId xmlns:a16="http://schemas.microsoft.com/office/drawing/2014/main" id="{5A0D2FB1-A133-4047-9284-F3AFD6A655F2}"/>
              </a:ext>
            </a:extLst>
          </p:cNvPr>
          <p:cNvSpPr>
            <a:spLocks xmlns:a="http://schemas.openxmlformats.org/drawingml/2006/main" noGrp="1"/>
          </p:cNvSpPr>
          <p:nvPr/>
        </p:nvSpPr>
        <p:spPr>
          <a:xfrm xmlns:a="http://schemas.openxmlformats.org/drawingml/2006/main">
            <a:off x="685800" y="61531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B554C"/>
                </a:solidFill>
                <a:latin typeface="IBM Plex Sans"/>
                <a:ea typeface="IBM Plex Sans"/>
                <a:cs typeface="IBM Plex Sans"/>
              </a:defRPr>
            </a:pPr>
            <a:r>
              <a:rPr sz="1500" b="0">
                <a:solidFill>
                  <a:srgbClr val="5B554C"/>
                </a:solidFill>
                <a:latin typeface="IBM Plex Sans"/>
                <a:ea typeface="IBM Plex Sans"/>
                <a:cs typeface="IBM Plex Sans"/>
              </a:rPr>
              <a:t>WHU Solana MVP · 2 October 2026</a:t>
            </a:r>
          </a:p>
        </p:txBody>
      </p:sp>
    </p:spTree>
    <p:extLst>
      <p:ext uri="{BB962C8B-B14F-4D97-AF65-F5344CB8AC3E}">
        <p14:creationId xmlns:p14="http://schemas.microsoft.com/office/powerpoint/2010/main" val="756180524"/>
      </p:ext>
    </p:extLst>
  </p:cSld>
</p:sld>
</file>

<file path=ppt/slides/slide2.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6049AC-7881-404E-BF29-06B2E7F9CE5B}"/>
              </a:ext>
            </a:extLst>
          </p:cNvPr>
          <p:cNvSpPr>
            <a:spLocks xmlns:a="http://schemas.openxmlformats.org/drawingml/2006/main" noGrp="1"/>
          </p:cNvSpPr>
          <p:nvPr/>
        </p:nvSpPr>
        <p:spPr>
          <a:xfrm xmlns:a="http://schemas.openxmlformats.org/drawingml/2006/main">
            <a:off x="685800" y="5334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00" b="1">
                <a:solidFill>
                  <a:srgbClr val="16130F"/>
                </a:solidFill>
                <a:latin typeface="Archivo"/>
                <a:ea typeface="Archivo"/>
                <a:cs typeface="Archivo"/>
              </a:defRPr>
            </a:pPr>
            <a:r>
              <a:rPr sz="3600" b="1">
                <a:solidFill>
                  <a:srgbClr val="16130F"/>
                </a:solidFill>
                <a:latin typeface="Archivo"/>
                <a:ea typeface="Archivo"/>
                <a:cs typeface="Archivo"/>
              </a:rPr>
              <a:t>A resale policy stops at the checkout.</a:t>
            </a:r>
          </a:p>
        </p:txBody>
      </p:sp>
      <p:sp>
        <p:nvSpPr>
          <p:cNvPr id="2" name="">
            <a:extLst xmlns:a="http://schemas.openxmlformats.org/drawingml/2006/main">
              <a:ext uri="{FF2B5EF4-FFF2-40B4-BE49-F238E27FC236}">
                <a16:creationId xmlns:a16="http://schemas.microsoft.com/office/drawing/2014/main" id="{948E1941-15A4-4F32-AF0E-4C443F346A48}"/>
              </a:ext>
            </a:extLst>
          </p:cNvPr>
          <p:cNvSpPr>
            <a:spLocks xmlns:a="http://schemas.openxmlformats.org/drawingml/2006/main" noGrp="1"/>
          </p:cNvSpPr>
          <p:nvPr/>
        </p:nvSpPr>
        <p:spPr>
          <a:xfrm xmlns:a="http://schemas.openxmlformats.org/drawingml/2006/main">
            <a:off x="685800" y="2057400"/>
            <a:ext cx="10287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400" b="0">
                <a:solidFill>
                  <a:srgbClr val="16130F"/>
                </a:solidFill>
                <a:latin typeface="IBM Plex Sans"/>
                <a:ea typeface="IBM Plex Sans"/>
                <a:cs typeface="IBM Plex Sans"/>
              </a:defRPr>
            </a:pPr>
            <a:r>
              <a:rPr sz="2400" b="0">
                <a:solidFill>
                  <a:srgbClr val="16130F"/>
                </a:solidFill>
                <a:latin typeface="IBM Plex Sans"/>
                <a:ea typeface="IBM Plex Sans"/>
                <a:cs typeface="IBM Plex Sans"/>
              </a:rPr>
              <a:t>A club can set a resale price in its own app.</a:t>
            </a:r>
          </a:p>
          <a:p xmlns:a="http://schemas.openxmlformats.org/drawingml/2006/main">
            <a:pPr>
              <a:defRPr sz="2400" b="0">
                <a:solidFill>
                  <a:srgbClr val="16130F"/>
                </a:solidFill>
                <a:latin typeface="IBM Plex Sans"/>
                <a:ea typeface="IBM Plex Sans"/>
                <a:cs typeface="IBM Plex Sans"/>
              </a:defRPr>
            </a:pPr>
            <a:r>
              <a:rPr sz="2400" b="0">
                <a:solidFill>
                  <a:srgbClr val="16130F"/>
                </a:solidFill>
                <a:latin typeface="IBM Plex Sans"/>
                <a:ea typeface="IBM Plex Sans"/>
                <a:cs typeface="IBM Plex Sans"/>
              </a:rPr>
              <a:t>Once a ticket moves elsewhere, that policy</a:t>
            </a:r>
          </a:p>
          <a:p xmlns:a="http://schemas.openxmlformats.org/drawingml/2006/main">
            <a:pPr>
              <a:defRPr sz="2400" b="0">
                <a:solidFill>
                  <a:srgbClr val="16130F"/>
                </a:solidFill>
                <a:latin typeface="IBM Plex Sans"/>
                <a:ea typeface="IBM Plex Sans"/>
                <a:cs typeface="IBM Plex Sans"/>
              </a:defRPr>
            </a:pPr>
            <a:r>
              <a:rPr sz="2400" b="0">
                <a:solidFill>
                  <a:srgbClr val="16130F"/>
                </a:solidFill>
                <a:latin typeface="IBM Plex Sans"/>
                <a:ea typeface="IBM Plex Sans"/>
                <a:cs typeface="IBM Plex Sans"/>
              </a:rPr>
              <a:t>needs a way to travel with it.</a:t>
            </a:r>
          </a:p>
        </p:txBody>
      </p:sp>
      <p:sp>
        <p:nvSpPr>
          <p:cNvPr id="3" name="">
            <a:extLst xmlns:a="http://schemas.openxmlformats.org/drawingml/2006/main">
              <a:ext uri="{FF2B5EF4-FFF2-40B4-BE49-F238E27FC236}">
                <a16:creationId xmlns:a16="http://schemas.microsoft.com/office/drawing/2014/main" id="{4EA5DEF7-FE1C-4675-BDC8-8D276B765D02}"/>
              </a:ext>
            </a:extLst>
          </p:cNvPr>
          <p:cNvSpPr>
            <a:spLocks xmlns:a="http://schemas.openxmlformats.org/drawingml/2006/main" noGrp="1"/>
          </p:cNvSpPr>
          <p:nvPr/>
        </p:nvSpPr>
        <p:spPr>
          <a:xfrm xmlns:a="http://schemas.openxmlformats.org/drawingml/2006/main">
            <a:off x="685800" y="4038600"/>
            <a:ext cx="4191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5B554C"/>
                </a:solidFill>
                <a:latin typeface="IBM Plex Sans"/>
                <a:ea typeface="IBM Plex Sans"/>
                <a:cs typeface="IBM Plex Sans"/>
              </a:defRPr>
            </a:pPr>
            <a:r>
              <a:rPr sz="1800" b="0">
                <a:solidFill>
                  <a:srgbClr val="5B554C"/>
                </a:solidFill>
                <a:latin typeface="IBM Plex Sans"/>
                <a:ea typeface="IBM Plex Sans"/>
                <a:cs typeface="IBM Plex Sans"/>
              </a:rPr>
              <a:t>The test case</a:t>
            </a:r>
          </a:p>
        </p:txBody>
      </p:sp>
      <p:sp>
        <p:nvSpPr>
          <p:cNvPr id="4" name="">
            <a:extLst xmlns:a="http://schemas.openxmlformats.org/drawingml/2006/main">
              <a:ext uri="{FF2B5EF4-FFF2-40B4-BE49-F238E27FC236}">
                <a16:creationId xmlns:a16="http://schemas.microsoft.com/office/drawing/2014/main" id="{E57D9CE0-BF83-42C8-B037-73F2A16AFCF4}"/>
              </a:ext>
            </a:extLst>
          </p:cNvPr>
          <p:cNvSpPr>
            <a:spLocks xmlns:a="http://schemas.openxmlformats.org/drawingml/2006/main" noGrp="1"/>
          </p:cNvSpPr>
          <p:nvPr/>
        </p:nvSpPr>
        <p:spPr>
          <a:xfrm xmlns:a="http://schemas.openxmlformats.org/drawingml/2006/main">
            <a:off x="685800" y="4629150"/>
            <a:ext cx="9620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250" b="0">
                <a:solidFill>
                  <a:srgbClr val="16130F"/>
                </a:solidFill>
                <a:latin typeface="IBM Plex Mono"/>
                <a:ea typeface="IBM Plex Mono"/>
                <a:cs typeface="IBM Plex Mono"/>
              </a:defRPr>
            </a:pPr>
            <a:r>
              <a:rPr sz="2250" b="0">
                <a:solidFill>
                  <a:srgbClr val="16130F"/>
                </a:solidFill>
                <a:latin typeface="IBM Plex Mono"/>
                <a:ea typeface="IBM Plex Mono"/>
                <a:cs typeface="IBM Plex Mono"/>
              </a:rPr>
              <a:t>€25.00 face price</a:t>
            </a:r>
          </a:p>
          <a:p xmlns:a="http://schemas.openxmlformats.org/drawingml/2006/main">
            <a:pPr>
              <a:defRPr sz="2250" b="0">
                <a:solidFill>
                  <a:srgbClr val="16130F"/>
                </a:solidFill>
                <a:latin typeface="IBM Plex Mono"/>
                <a:ea typeface="IBM Plex Mono"/>
                <a:cs typeface="IBM Plex Mono"/>
              </a:defRPr>
            </a:pPr>
            <a:r>
              <a:rPr sz="2250" b="0">
                <a:solidFill>
                  <a:srgbClr val="16130F"/>
                </a:solidFill>
                <a:latin typeface="IBM Plex Mono"/>
                <a:ea typeface="IBM Plex Mono"/>
                <a:cs typeface="IBM Plex Mono"/>
              </a:rPr>
              <a:t>€27.50 allowed resale</a:t>
            </a:r>
          </a:p>
          <a:p xmlns:a="http://schemas.openxmlformats.org/drawingml/2006/main">
            <a:pPr>
              <a:defRPr sz="2250" b="0">
                <a:solidFill>
                  <a:srgbClr val="16130F"/>
                </a:solidFill>
                <a:latin typeface="IBM Plex Mono"/>
                <a:ea typeface="IBM Plex Mono"/>
                <a:cs typeface="IBM Plex Mono"/>
              </a:defRPr>
            </a:pPr>
            <a:r>
              <a:rPr sz="2250" b="0">
                <a:solidFill>
                  <a:srgbClr val="16130F"/>
                </a:solidFill>
                <a:latin typeface="IBM Plex Mono"/>
                <a:ea typeface="IBM Plex Mono"/>
                <a:cs typeface="IBM Plex Mono"/>
              </a:rPr>
              <a:t>€60.00 asking price refused</a:t>
            </a:r>
          </a:p>
        </p:txBody>
      </p:sp>
    </p:spTree>
    <p:extLst>
      <p:ext uri="{BB962C8B-B14F-4D97-AF65-F5344CB8AC3E}">
        <p14:creationId xmlns:p14="http://schemas.microsoft.com/office/powerpoint/2010/main" val="357682536"/>
      </p:ext>
    </p:extLst>
  </p:cSld>
</p:sld>
</file>

<file path=ppt/slides/slide3.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16A0AB-C552-40F4-8BCF-F8DAE9FA797F}"/>
              </a:ext>
            </a:extLst>
          </p:cNvPr>
          <p:cNvSpPr>
            <a:spLocks xmlns:a="http://schemas.openxmlformats.org/drawingml/2006/main" noGrp="1"/>
          </p:cNvSpPr>
          <p:nvPr/>
        </p:nvSpPr>
        <p:spPr>
          <a:xfrm xmlns:a="http://schemas.openxmlformats.org/drawingml/2006/main">
            <a:off x="685800" y="5334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00" b="1">
                <a:solidFill>
                  <a:srgbClr val="16130F"/>
                </a:solidFill>
                <a:latin typeface="Archivo"/>
                <a:ea typeface="Archivo"/>
                <a:cs typeface="Archivo"/>
              </a:defRPr>
            </a:pPr>
            <a:r>
              <a:rPr sz="3600" b="1">
                <a:solidFill>
                  <a:srgbClr val="16130F"/>
                </a:solidFill>
                <a:latin typeface="Archivo"/>
                <a:ea typeface="Archivo"/>
                <a:cs typeface="Archivo"/>
              </a:rPr>
              <a:t>Buy it. Resell it within the cap.</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ee28e45ccef4184"/>
          <a:stretch xmlns:a="http://schemas.openxmlformats.org/drawingml/2006/main"/>
        </p:blipFill>
        <p:spPr>
          <a:xfrm xmlns:a="http://schemas.openxmlformats.org/drawingml/2006/main">
            <a:off x="685800" y="1828800"/>
            <a:ext cx="7162800" cy="40290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A0118A9-D652-4E6D-B15A-BF56C613BA2C}"/>
              </a:ext>
            </a:extLst>
          </p:cNvPr>
          <p:cNvSpPr>
            <a:spLocks xmlns:a="http://schemas.openxmlformats.org/drawingml/2006/main" noGrp="1"/>
          </p:cNvSpPr>
          <p:nvPr/>
        </p:nvSpPr>
        <p:spPr>
          <a:xfrm xmlns:a="http://schemas.openxmlformats.org/drawingml/2006/main">
            <a:off x="8305800" y="1981200"/>
            <a:ext cx="3200400" cy="365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The organizer sets</a:t>
            </a:r>
          </a:p>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the cap and royalty.</a:t>
            </a:r>
          </a:p>
          <a:p xmlns:a="http://schemas.openxmlformats.org/drawingml/2006/main">
            <a:r>
              <a:t/>
            </a:r>
          </a:p>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A fan buys, lists or</a:t>
            </a:r>
          </a:p>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cancels a listing.</a:t>
            </a:r>
          </a:p>
          <a:p xmlns:a="http://schemas.openxmlformats.org/drawingml/2006/main">
            <a:r>
              <a:t/>
            </a:r>
          </a:p>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The ticket and payment</a:t>
            </a:r>
          </a:p>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move together.</a:t>
            </a:r>
          </a:p>
        </p:txBody>
      </p:sp>
      <p:sp>
        <p:nvSpPr>
          <p:cNvPr id="4" name="">
            <a:extLst xmlns:a="http://schemas.openxmlformats.org/drawingml/2006/main">
              <a:ext uri="{FF2B5EF4-FFF2-40B4-BE49-F238E27FC236}">
                <a16:creationId xmlns:a16="http://schemas.microsoft.com/office/drawing/2014/main" id="{D367E4AF-B765-4471-A70D-95F123083DA6}"/>
              </a:ext>
            </a:extLst>
          </p:cNvPr>
          <p:cNvSpPr>
            <a:spLocks xmlns:a="http://schemas.openxmlformats.org/drawingml/2006/main" noGrp="1"/>
          </p:cNvSpPr>
          <p:nvPr/>
        </p:nvSpPr>
        <p:spPr>
          <a:xfrm xmlns:a="http://schemas.openxmlformats.org/drawingml/2006/main">
            <a:off x="685800" y="62293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B554C"/>
                </a:solidFill>
                <a:latin typeface="IBM Plex Sans"/>
                <a:ea typeface="IBM Plex Sans"/>
                <a:cs typeface="IBM Plex Sans"/>
              </a:defRPr>
            </a:pPr>
            <a:r>
              <a:rPr sz="1350" b="0">
                <a:solidFill>
                  <a:srgbClr val="5B554C"/>
                </a:solidFill>
                <a:latin typeface="IBM Plex Sans"/>
                <a:ea typeface="IBM Plex Sans"/>
                <a:cs typeface="IBM Plex Sans"/>
              </a:rPr>
              <a:t>Actual Solana devnet transaction. The €60 listing fails; the seller keeps the ticket.</a:t>
            </a:r>
          </a:p>
        </p:txBody>
      </p:sp>
    </p:spTree>
    <p:extLst>
      <p:ext uri="{BB962C8B-B14F-4D97-AF65-F5344CB8AC3E}">
        <p14:creationId xmlns:p14="http://schemas.microsoft.com/office/powerpoint/2010/main" val="217085033"/>
      </p:ext>
    </p:extLst>
  </p:cSld>
</p:sld>
</file>

<file path=ppt/slides/slide4.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0060D8-B4AF-47A6-969A-7A531A3F65D4}"/>
              </a:ext>
            </a:extLst>
          </p:cNvPr>
          <p:cNvSpPr>
            <a:spLocks xmlns:a="http://schemas.openxmlformats.org/drawingml/2006/main" noGrp="1"/>
          </p:cNvSpPr>
          <p:nvPr/>
        </p:nvSpPr>
        <p:spPr>
          <a:xfrm xmlns:a="http://schemas.openxmlformats.org/drawingml/2006/main">
            <a:off x="685800" y="5334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00" b="1">
                <a:solidFill>
                  <a:srgbClr val="16130F"/>
                </a:solidFill>
                <a:latin typeface="Archivo"/>
                <a:ea typeface="Archivo"/>
                <a:cs typeface="Archivo"/>
              </a:defRPr>
            </a:pPr>
            <a:r>
              <a:rPr sz="3600" b="1">
                <a:solidFill>
                  <a:srgbClr val="16130F"/>
                </a:solidFill>
                <a:latin typeface="Archivo"/>
                <a:ea typeface="Archivo"/>
                <a:cs typeface="Archivo"/>
              </a:rPr>
              <a:t>The rule is checked outside our website.</a:t>
            </a:r>
          </a:p>
        </p:txBody>
      </p:sp>
      <p:sp>
        <p:nvSpPr>
          <p:cNvPr id="2" name="">
            <a:extLst xmlns:a="http://schemas.openxmlformats.org/drawingml/2006/main">
              <a:ext uri="{FF2B5EF4-FFF2-40B4-BE49-F238E27FC236}">
                <a16:creationId xmlns:a16="http://schemas.microsoft.com/office/drawing/2014/main" id="{EF558409-E4EB-4D8C-9064-E2DDF7C853E1}"/>
              </a:ext>
            </a:extLst>
          </p:cNvPr>
          <p:cNvSpPr>
            <a:spLocks xmlns:a="http://schemas.openxmlformats.org/drawingml/2006/main" noGrp="1"/>
          </p:cNvSpPr>
          <p:nvPr/>
        </p:nvSpPr>
        <p:spPr>
          <a:xfrm xmlns:a="http://schemas.openxmlformats.org/drawingml/2006/main">
            <a:off x="685800" y="1885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250" b="0">
                <a:solidFill>
                  <a:srgbClr val="16130F"/>
                </a:solidFill>
                <a:latin typeface="IBM Plex Sans"/>
                <a:ea typeface="IBM Plex Sans"/>
                <a:cs typeface="IBM Plex Sans"/>
              </a:defRPr>
            </a:pPr>
            <a:r>
              <a:rPr sz="2250" b="0">
                <a:solidFill>
                  <a:srgbClr val="16130F"/>
                </a:solidFill>
                <a:latin typeface="IBM Plex Sans"/>
                <a:ea typeface="IBM Plex Sans"/>
                <a:cs typeface="IBM Plex Sans"/>
              </a:rPr>
              <a:t>Token-2022 calls the hook when a ticket moves.</a:t>
            </a:r>
          </a:p>
          <a:p xmlns:a="http://schemas.openxmlformats.org/drawingml/2006/main">
            <a:pPr>
              <a:defRPr sz="2250" b="0">
                <a:solidFill>
                  <a:srgbClr val="16130F"/>
                </a:solidFill>
                <a:latin typeface="IBM Plex Sans"/>
                <a:ea typeface="IBM Plex Sans"/>
                <a:cs typeface="IBM Plex Sans"/>
              </a:defRPr>
            </a:pPr>
            <a:r>
              <a:rPr sz="2250" b="0">
                <a:solidFill>
                  <a:srgbClr val="16130F"/>
                </a:solidFill>
                <a:latin typeface="IBM Plex Sans"/>
                <a:ea typeface="IBM Plex Sans"/>
                <a:cs typeface="IBM Plex Sans"/>
              </a:rPr>
              <a:t>A direct send is refused, even if its holder signs it.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4ee4689744740ad"/>
          <a:stretch xmlns:a="http://schemas.openxmlformats.org/drawingml/2006/main"/>
        </p:blipFill>
        <p:spPr>
          <a:xfrm xmlns:a="http://schemas.openxmlformats.org/drawingml/2006/main">
            <a:off x="685800" y="3429000"/>
            <a:ext cx="6096000" cy="2324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2652E76-1E2E-4403-AF8A-D9124FD2C471}"/>
              </a:ext>
            </a:extLst>
          </p:cNvPr>
          <p:cNvSpPr>
            <a:spLocks xmlns:a="http://schemas.openxmlformats.org/drawingml/2006/main" noGrp="1"/>
          </p:cNvSpPr>
          <p:nvPr/>
        </p:nvSpPr>
        <p:spPr>
          <a:xfrm xmlns:a="http://schemas.openxmlformats.org/drawingml/2006/main">
            <a:off x="7239000" y="3314700"/>
            <a:ext cx="426720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6130F"/>
                </a:solidFill>
                <a:latin typeface="IBM Plex Sans"/>
                <a:ea typeface="IBM Plex Sans"/>
                <a:cs typeface="IBM Plex Sans"/>
              </a:defRPr>
            </a:pPr>
            <a:r>
              <a:rPr sz="1875" b="0">
                <a:solidFill>
                  <a:srgbClr val="16130F"/>
                </a:solidFill>
                <a:latin typeface="IBM Plex Sans"/>
                <a:ea typeface="IBM Plex Sans"/>
                <a:cs typeface="IBM Plex Sans"/>
              </a:rPr>
              <a:t>The marketplace owns escrow.</a:t>
            </a:r>
          </a:p>
          <a:p xmlns:a="http://schemas.openxmlformats.org/drawingml/2006/main">
            <a:pPr>
              <a:defRPr sz="1875" b="0">
                <a:solidFill>
                  <a:srgbClr val="16130F"/>
                </a:solidFill>
                <a:latin typeface="IBM Plex Sans"/>
                <a:ea typeface="IBM Plex Sans"/>
                <a:cs typeface="IBM Plex Sans"/>
              </a:defRPr>
            </a:pPr>
            <a:r>
              <a:rPr sz="1875" b="0">
                <a:solidFill>
                  <a:srgbClr val="16130F"/>
                </a:solidFill>
                <a:latin typeface="IBM Plex Sans"/>
                <a:ea typeface="IBM Plex Sans"/>
                <a:cs typeface="IBM Plex Sans"/>
              </a:rPr>
              <a:t>It checks the asking price, then</a:t>
            </a:r>
          </a:p>
          <a:p xmlns:a="http://schemas.openxmlformats.org/drawingml/2006/main">
            <a:pPr>
              <a:defRPr sz="1875" b="0">
                <a:solidFill>
                  <a:srgbClr val="16130F"/>
                </a:solidFill>
                <a:latin typeface="IBM Plex Sans"/>
                <a:ea typeface="IBM Plex Sans"/>
                <a:cs typeface="IBM Plex Sans"/>
              </a:defRPr>
            </a:pPr>
            <a:r>
              <a:rPr sz="1875" b="0">
                <a:solidFill>
                  <a:srgbClr val="16130F"/>
                </a:solidFill>
                <a:latin typeface="IBM Plex Sans"/>
                <a:ea typeface="IBM Plex Sans"/>
                <a:cs typeface="IBM Plex Sans"/>
              </a:rPr>
              <a:t>splits payment and delivers the</a:t>
            </a:r>
          </a:p>
          <a:p xmlns:a="http://schemas.openxmlformats.org/drawingml/2006/main">
            <a:pPr>
              <a:defRPr sz="1875" b="0">
                <a:solidFill>
                  <a:srgbClr val="16130F"/>
                </a:solidFill>
                <a:latin typeface="IBM Plex Sans"/>
                <a:ea typeface="IBM Plex Sans"/>
                <a:cs typeface="IBM Plex Sans"/>
              </a:defRPr>
            </a:pPr>
            <a:r>
              <a:rPr sz="1875" b="0">
                <a:solidFill>
                  <a:srgbClr val="16130F"/>
                </a:solidFill>
                <a:latin typeface="IBM Plex Sans"/>
                <a:ea typeface="IBM Plex Sans"/>
                <a:cs typeface="IBM Plex Sans"/>
              </a:rPr>
              <a:t>ticket in one transaction.</a:t>
            </a:r>
          </a:p>
          <a:p xmlns:a="http://schemas.openxmlformats.org/drawingml/2006/main">
            <a:r>
              <a:t/>
            </a:r>
          </a:p>
          <a:p xmlns:a="http://schemas.openxmlformats.org/drawingml/2006/main">
            <a:pPr>
              <a:defRPr sz="1875" b="0">
                <a:solidFill>
                  <a:srgbClr val="16130F"/>
                </a:solidFill>
                <a:latin typeface="IBM Plex Sans"/>
                <a:ea typeface="IBM Plex Sans"/>
                <a:cs typeface="IBM Plex Sans"/>
              </a:defRPr>
            </a:pPr>
            <a:r>
              <a:rPr sz="1875" b="0">
                <a:solidFill>
                  <a:srgbClr val="16130F"/>
                </a:solidFill>
                <a:latin typeface="IBM Plex Sans"/>
                <a:ea typeface="IBM Plex Sans"/>
                <a:cs typeface="IBM Plex Sans"/>
              </a:rPr>
              <a:t>A failed payment rolls it all back.</a:t>
            </a:r>
          </a:p>
        </p:txBody>
      </p:sp>
      <p:sp>
        <p:nvSpPr>
          <p:cNvPr id="5" name="">
            <a:extLst xmlns:a="http://schemas.openxmlformats.org/drawingml/2006/main">
              <a:ext uri="{FF2B5EF4-FFF2-40B4-BE49-F238E27FC236}">
                <a16:creationId xmlns:a16="http://schemas.microsoft.com/office/drawing/2014/main" id="{3625BB0A-4812-4EEC-8403-A7FDCDD0CB28}"/>
              </a:ext>
            </a:extLst>
          </p:cNvPr>
          <p:cNvSpPr>
            <a:spLocks xmlns:a="http://schemas.openxmlformats.org/drawingml/2006/main" noGrp="1"/>
          </p:cNvSpPr>
          <p:nvPr/>
        </p:nvSpPr>
        <p:spPr>
          <a:xfrm xmlns:a="http://schemas.openxmlformats.org/drawingml/2006/main">
            <a:off x="685800" y="62293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B554C"/>
                </a:solidFill>
                <a:latin typeface="IBM Plex Sans"/>
                <a:ea typeface="IBM Plex Sans"/>
                <a:cs typeface="IBM Plex Sans"/>
              </a:defRPr>
            </a:pPr>
            <a:r>
              <a:rPr sz="1350" b="0">
                <a:solidFill>
                  <a:srgbClr val="5B554C"/>
                </a:solidFill>
                <a:latin typeface="IBM Plex Sans"/>
                <a:ea typeface="IBM Plex Sans"/>
                <a:cs typeface="IBM Plex Sans"/>
              </a:rPr>
              <a:t>Software upgrades and cash side deals remain possible. The demo claims neither immutability nor perfect anti-scalping.</a:t>
            </a:r>
          </a:p>
        </p:txBody>
      </p:sp>
    </p:spTree>
    <p:extLst>
      <p:ext uri="{BB962C8B-B14F-4D97-AF65-F5344CB8AC3E}">
        <p14:creationId xmlns:p14="http://schemas.microsoft.com/office/powerpoint/2010/main" val="884765785"/>
      </p:ext>
    </p:extLst>
  </p:cSld>
</p:sld>
</file>

<file path=ppt/slides/slide5.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035E78-D4FE-4D45-8CF8-F4BC87E137EE}"/>
              </a:ext>
            </a:extLst>
          </p:cNvPr>
          <p:cNvSpPr>
            <a:spLocks xmlns:a="http://schemas.openxmlformats.org/drawingml/2006/main" noGrp="1"/>
          </p:cNvSpPr>
          <p:nvPr/>
        </p:nvSpPr>
        <p:spPr>
          <a:xfrm xmlns:a="http://schemas.openxmlformats.org/drawingml/2006/main">
            <a:off x="685800" y="5334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00" b="1">
                <a:solidFill>
                  <a:srgbClr val="16130F"/>
                </a:solidFill>
                <a:latin typeface="Archivo"/>
                <a:ea typeface="Archivo"/>
                <a:cs typeface="Archivo"/>
              </a:defRPr>
            </a:pPr>
            <a:r>
              <a:rPr sz="3600" b="1">
                <a:solidFill>
                  <a:srgbClr val="16130F"/>
                </a:solidFill>
                <a:latin typeface="Archivo"/>
                <a:ea typeface="Archivo"/>
                <a:cs typeface="Archivo"/>
              </a:rPr>
              <a:t>3% on primary sales. 2% on resales.</a:t>
            </a:r>
          </a:p>
        </p:txBody>
      </p:sp>
      <p:sp>
        <p:nvSpPr>
          <p:cNvPr id="2" name="">
            <a:extLst xmlns:a="http://schemas.openxmlformats.org/drawingml/2006/main">
              <a:ext uri="{FF2B5EF4-FFF2-40B4-BE49-F238E27FC236}">
                <a16:creationId xmlns:a16="http://schemas.microsoft.com/office/drawing/2014/main" id="{7C3F088B-2DC5-453F-95C5-11A8CF566CFD}"/>
              </a:ext>
            </a:extLst>
          </p:cNvPr>
          <p:cNvSpPr>
            <a:spLocks xmlns:a="http://schemas.openxmlformats.org/drawingml/2006/main" noGrp="1"/>
          </p:cNvSpPr>
          <p:nvPr/>
        </p:nvSpPr>
        <p:spPr>
          <a:xfrm xmlns:a="http://schemas.openxmlformats.org/drawingml/2006/main">
            <a:off x="685800" y="19240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16130F"/>
                </a:solidFill>
                <a:latin typeface="IBM Plex Sans"/>
                <a:ea typeface="IBM Plex Sans"/>
                <a:cs typeface="IBM Plex Sans"/>
              </a:defRPr>
            </a:pPr>
            <a:r>
              <a:rPr sz="2100" b="0">
                <a:solidFill>
                  <a:srgbClr val="16130F"/>
                </a:solidFill>
                <a:latin typeface="IBM Plex Sans"/>
                <a:ea typeface="IBM Plex Sans"/>
                <a:cs typeface="IBM Plex Sans"/>
              </a:rPr>
              <a:t>The organizer chooses a resale royalty of up to 10%.</a:t>
            </a:r>
          </a:p>
          <a:p xmlns:a="http://schemas.openxmlformats.org/drawingml/2006/main">
            <a:pPr>
              <a:defRPr sz="2100" b="0">
                <a:solidFill>
                  <a:srgbClr val="16130F"/>
                </a:solidFill>
                <a:latin typeface="IBM Plex Sans"/>
                <a:ea typeface="IBM Plex Sans"/>
                <a:cs typeface="IBM Plex Sans"/>
              </a:defRPr>
            </a:pPr>
            <a:r>
              <a:rPr sz="2100" b="0">
                <a:solidFill>
                  <a:srgbClr val="16130F"/>
                </a:solidFill>
                <a:latin typeface="IBM Plex Sans"/>
                <a:ea typeface="IBM Plex Sans"/>
                <a:cs typeface="IBM Plex Sans"/>
              </a:rPr>
              <a:t>Buyers pay the displayed price, with no added buyer fee.</a:t>
            </a:r>
          </a:p>
        </p:txBody>
      </p:sp>
      <p:graphicFrame>
        <p:nvGraphicFramePr>
          <p:cNvPr id="7" name=""/>
          <p:cNvGraphicFramePr/>
          <p:nvPr/>
        </p:nvGraphicFramePr>
        <p:xfrm>
          <a:off xmlns:a="http://schemas.openxmlformats.org/drawingml/2006/main" x="685800" y="3276600"/>
          <a:ext xmlns:a="http://schemas.openxmlformats.org/drawingml/2006/main" cx="10820400" cy="2286000"/>
        </p:xfrm>
        <a:graphic xmlns:a="http://schemas.openxmlformats.org/drawingml/2006/main">
          <a:graphicData uri="http://schemas.openxmlformats.org/drawingml/2006/table">
            <a:tbl>
              <a:tblPr firstRow="0" bandRow="0"/>
              <a:tblGrid>
                <a:gridCol w="3086100"/>
                <a:gridCol w="2781300"/>
                <a:gridCol w="2324100"/>
                <a:gridCol w="2628900"/>
              </a:tblGrid>
              <a:tr h="571500">
                <a:tc>
                  <a:txBody>
                    <a:bodyPr/>
                    <a:lstStyle/>
                    <a:p>
                      <a:r>
                        <a:rPr sz="1800" b="1">
                          <a:solidFill>
                            <a:srgbClr val="16130F"/>
                          </a:solidFill>
                          <a:latin typeface="IBM Plex Sans"/>
                          <a:ea typeface="IBM Plex Sans"/>
                          <a:cs typeface="IBM Plex Sans"/>
                        </a:rPr>
                        <a:t>Example event</a:t>
                      </a:r>
                    </a:p>
                  </a:txBody>
                  <a:tcPr marL="152400" marR="152400" marT="114300" marB="114300">
                    <a:solidFill>
                      <a:srgbClr val="F3EFE6"/>
                    </a:solidFill>
                  </a:tcPr>
                </a:tc>
                <a:tc>
                  <a:txBody>
                    <a:bodyPr/>
                    <a:lstStyle/>
                    <a:p>
                      <a:r>
                        <a:rPr sz="1800" b="1">
                          <a:solidFill>
                            <a:srgbClr val="16130F"/>
                          </a:solidFill>
                          <a:latin typeface="IBM Plex Sans"/>
                          <a:ea typeface="IBM Plex Sans"/>
                          <a:cs typeface="IBM Plex Sans"/>
                        </a:rPr>
                        <a:t>Volume</a:t>
                      </a:r>
                    </a:p>
                  </a:txBody>
                  <a:tcPr marL="152400" marR="152400" marT="114300" marB="114300">
                    <a:solidFill>
                      <a:srgbClr val="F3EFE6"/>
                    </a:solidFill>
                  </a:tcPr>
                </a:tc>
                <a:tc>
                  <a:txBody>
                    <a:bodyPr/>
                    <a:lstStyle/>
                    <a:p>
                      <a:r>
                        <a:rPr sz="1800" b="1">
                          <a:solidFill>
                            <a:srgbClr val="16130F"/>
                          </a:solidFill>
                          <a:latin typeface="IBM Plex Sans"/>
                          <a:ea typeface="IBM Plex Sans"/>
                          <a:cs typeface="IBM Plex Sans"/>
                        </a:rPr>
                        <a:t>Fairtix</a:t>
                      </a:r>
                    </a:p>
                  </a:txBody>
                  <a:tcPr marL="152400" marR="152400" marT="114300" marB="114300">
                    <a:solidFill>
                      <a:srgbClr val="F3EFE6"/>
                    </a:solidFill>
                  </a:tcPr>
                </a:tc>
                <a:tc>
                  <a:txBody>
                    <a:bodyPr/>
                    <a:lstStyle/>
                    <a:p>
                      <a:r>
                        <a:rPr sz="1800" b="1">
                          <a:solidFill>
                            <a:srgbClr val="16130F"/>
                          </a:solidFill>
                          <a:latin typeface="IBM Plex Sans"/>
                          <a:ea typeface="IBM Plex Sans"/>
                          <a:cs typeface="IBM Plex Sans"/>
                        </a:rPr>
                        <a:t>Resale royalty</a:t>
                      </a:r>
                    </a:p>
                  </a:txBody>
                  <a:tcPr marL="152400" marR="152400" marT="114300" marB="114300">
                    <a:solidFill>
                      <a:srgbClr val="F3EFE6"/>
                    </a:solidFill>
                  </a:tcPr>
                </a:tc>
              </a:tr>
              <a:tr h="571500">
                <a:tc>
                  <a:txBody>
                    <a:bodyPr/>
                    <a:lstStyle/>
                    <a:p>
                      <a:r>
                        <a:rPr sz="1800">
                          <a:solidFill>
                            <a:srgbClr val="16130F"/>
                          </a:solidFill>
                          <a:latin typeface="IBM Plex Sans"/>
                          <a:ea typeface="IBM Plex Sans"/>
                          <a:cs typeface="IBM Plex Sans"/>
                        </a:rPr>
                        <a:t>Primary sales</a:t>
                      </a:r>
                    </a:p>
                  </a:txBody>
                  <a:tcPr marL="152400" marR="152400" marT="114300" marB="114300">
                    <a:solidFill>
                      <a:srgbClr val="F3EFE6"/>
                    </a:solidFill>
                  </a:tcPr>
                </a:tc>
                <a:tc>
                  <a:txBody>
                    <a:bodyPr/>
                    <a:lstStyle/>
                    <a:p>
                      <a:r>
                        <a:rPr sz="1800">
                          <a:solidFill>
                            <a:srgbClr val="16130F"/>
                          </a:solidFill>
                          <a:latin typeface="IBM Plex Sans"/>
                          <a:ea typeface="IBM Plex Sans"/>
                          <a:cs typeface="IBM Plex Sans"/>
                        </a:rPr>
                        <a:t>400 × €15.00</a:t>
                      </a:r>
                    </a:p>
                  </a:txBody>
                  <a:tcPr marL="152400" marR="152400" marT="114300" marB="114300">
                    <a:solidFill>
                      <a:srgbClr val="F3EFE6"/>
                    </a:solidFill>
                  </a:tcPr>
                </a:tc>
                <a:tc>
                  <a:txBody>
                    <a:bodyPr/>
                    <a:lstStyle/>
                    <a:p>
                      <a:r>
                        <a:rPr sz="1800">
                          <a:solidFill>
                            <a:srgbClr val="16130F"/>
                          </a:solidFill>
                          <a:latin typeface="IBM Plex Sans"/>
                          <a:ea typeface="IBM Plex Sans"/>
                          <a:cs typeface="IBM Plex Sans"/>
                        </a:rPr>
                        <a:t>€180.00</a:t>
                      </a:r>
                    </a:p>
                  </a:txBody>
                  <a:tcPr marL="152400" marR="152400" marT="114300" marB="114300">
                    <a:solidFill>
                      <a:srgbClr val="F3EFE6"/>
                    </a:solidFill>
                  </a:tcPr>
                </a:tc>
                <a:tc>
                  <a:txBody>
                    <a:bodyPr/>
                    <a:lstStyle/>
                    <a:p>
                      <a:r>
                        <a:rPr sz="1800">
                          <a:solidFill>
                            <a:srgbClr val="16130F"/>
                          </a:solidFill>
                          <a:latin typeface="IBM Plex Sans"/>
                          <a:ea typeface="IBM Plex Sans"/>
                          <a:cs typeface="IBM Plex Sans"/>
                        </a:rPr>
                        <a:t>—</a:t>
                      </a:r>
                    </a:p>
                  </a:txBody>
                  <a:tcPr marL="152400" marR="152400" marT="114300" marB="114300">
                    <a:solidFill>
                      <a:srgbClr val="F3EFE6"/>
                    </a:solidFill>
                  </a:tcPr>
                </a:tc>
              </a:tr>
              <a:tr h="571500">
                <a:tc>
                  <a:txBody>
                    <a:bodyPr/>
                    <a:lstStyle/>
                    <a:p>
                      <a:r>
                        <a:rPr sz="1800">
                          <a:solidFill>
                            <a:srgbClr val="16130F"/>
                          </a:solidFill>
                          <a:latin typeface="IBM Plex Sans"/>
                          <a:ea typeface="IBM Plex Sans"/>
                          <a:cs typeface="IBM Plex Sans"/>
                        </a:rPr>
                        <a:t>Resales</a:t>
                      </a:r>
                    </a:p>
                  </a:txBody>
                  <a:tcPr marL="152400" marR="152400" marT="114300" marB="114300">
                    <a:solidFill>
                      <a:srgbClr val="F3EFE6"/>
                    </a:solidFill>
                  </a:tcPr>
                </a:tc>
                <a:tc>
                  <a:txBody>
                    <a:bodyPr/>
                    <a:lstStyle/>
                    <a:p>
                      <a:r>
                        <a:rPr sz="1800">
                          <a:solidFill>
                            <a:srgbClr val="16130F"/>
                          </a:solidFill>
                          <a:latin typeface="IBM Plex Sans"/>
                          <a:ea typeface="IBM Plex Sans"/>
                          <a:cs typeface="IBM Plex Sans"/>
                        </a:rPr>
                        <a:t>80 × €18.00</a:t>
                      </a:r>
                    </a:p>
                  </a:txBody>
                  <a:tcPr marL="152400" marR="152400" marT="114300" marB="114300">
                    <a:solidFill>
                      <a:srgbClr val="F3EFE6"/>
                    </a:solidFill>
                  </a:tcPr>
                </a:tc>
                <a:tc>
                  <a:txBody>
                    <a:bodyPr/>
                    <a:lstStyle/>
                    <a:p>
                      <a:r>
                        <a:rPr sz="1800">
                          <a:solidFill>
                            <a:srgbClr val="16130F"/>
                          </a:solidFill>
                          <a:latin typeface="IBM Plex Sans"/>
                          <a:ea typeface="IBM Plex Sans"/>
                          <a:cs typeface="IBM Plex Sans"/>
                        </a:rPr>
                        <a:t>€28.80</a:t>
                      </a:r>
                    </a:p>
                  </a:txBody>
                  <a:tcPr marL="152400" marR="152400" marT="114300" marB="114300">
                    <a:solidFill>
                      <a:srgbClr val="F3EFE6"/>
                    </a:solidFill>
                  </a:tcPr>
                </a:tc>
                <a:tc>
                  <a:txBody>
                    <a:bodyPr/>
                    <a:lstStyle/>
                    <a:p>
                      <a:r>
                        <a:rPr sz="1800">
                          <a:solidFill>
                            <a:srgbClr val="16130F"/>
                          </a:solidFill>
                          <a:latin typeface="IBM Plex Sans"/>
                          <a:ea typeface="IBM Plex Sans"/>
                          <a:cs typeface="IBM Plex Sans"/>
                        </a:rPr>
                        <a:t>€72.00</a:t>
                      </a:r>
                    </a:p>
                  </a:txBody>
                  <a:tcPr marL="152400" marR="152400" marT="114300" marB="114300">
                    <a:solidFill>
                      <a:srgbClr val="F3EFE6"/>
                    </a:solidFill>
                  </a:tcPr>
                </a:tc>
              </a:tr>
              <a:tr h="571500">
                <a:tc>
                  <a:txBody>
                    <a:bodyPr/>
                    <a:lstStyle/>
                    <a:p>
                      <a:r>
                        <a:rPr sz="1800">
                          <a:solidFill>
                            <a:srgbClr val="16130F"/>
                          </a:solidFill>
                          <a:latin typeface="IBM Plex Sans"/>
                          <a:ea typeface="IBM Plex Sans"/>
                          <a:cs typeface="IBM Plex Sans"/>
                        </a:rPr>
                        <a:t>Total</a:t>
                      </a:r>
                    </a:p>
                  </a:txBody>
                  <a:tcPr marL="152400" marR="152400" marT="114300" marB="114300">
                    <a:solidFill>
                      <a:srgbClr val="F3EFE6"/>
                    </a:solidFill>
                  </a:tcPr>
                </a:tc>
                <a:tc>
                  <a:txBody>
                    <a:bodyPr/>
                    <a:lstStyle/>
                    <a:p>
                      <a:r>
                        <a:rPr sz="1800">
                          <a:solidFill>
                            <a:srgbClr val="16130F"/>
                          </a:solidFill>
                          <a:latin typeface="IBM Plex Sans"/>
                          <a:ea typeface="IBM Plex Sans"/>
                          <a:cs typeface="IBM Plex Sans"/>
                        </a:rPr>
                        <a:t/>
                      </a:r>
                    </a:p>
                  </a:txBody>
                  <a:tcPr marL="152400" marR="152400" marT="114300" marB="114300">
                    <a:solidFill>
                      <a:srgbClr val="F3EFE6"/>
                    </a:solidFill>
                  </a:tcPr>
                </a:tc>
                <a:tc>
                  <a:txBody>
                    <a:bodyPr/>
                    <a:lstStyle/>
                    <a:p>
                      <a:r>
                        <a:rPr sz="1800">
                          <a:solidFill>
                            <a:srgbClr val="16130F"/>
                          </a:solidFill>
                          <a:latin typeface="IBM Plex Sans"/>
                          <a:ea typeface="IBM Plex Sans"/>
                          <a:cs typeface="IBM Plex Sans"/>
                        </a:rPr>
                        <a:t>€208.80</a:t>
                      </a:r>
                    </a:p>
                  </a:txBody>
                  <a:tcPr marL="152400" marR="152400" marT="114300" marB="114300">
                    <a:solidFill>
                      <a:srgbClr val="F3EFE6"/>
                    </a:solidFill>
                  </a:tcPr>
                </a:tc>
                <a:tc>
                  <a:txBody>
                    <a:bodyPr/>
                    <a:lstStyle/>
                    <a:p>
                      <a:r>
                        <a:rPr sz="1800">
                          <a:solidFill>
                            <a:srgbClr val="16130F"/>
                          </a:solidFill>
                          <a:latin typeface="IBM Plex Sans"/>
                          <a:ea typeface="IBM Plex Sans"/>
                          <a:cs typeface="IBM Plex Sans"/>
                        </a:rPr>
                        <a:t>€72.00</a:t>
                      </a:r>
                    </a:p>
                  </a:txBody>
                  <a:tcPr marL="152400" marR="152400" marT="114300" marB="114300">
                    <a:solidFill>
                      <a:srgbClr val="F3EFE6"/>
                    </a:solidFill>
                  </a:tcPr>
                </a:tc>
              </a:tr>
            </a:tbl>
          </a:graphicData>
        </a:graphic>
      </p:graphicFrame>
      <p:sp>
        <p:nvSpPr>
          <p:cNvPr id="4" name="">
            <a:extLst xmlns:a="http://schemas.openxmlformats.org/drawingml/2006/main">
              <a:ext uri="{FF2B5EF4-FFF2-40B4-BE49-F238E27FC236}">
                <a16:creationId xmlns:a16="http://schemas.microsoft.com/office/drawing/2014/main" id="{320A979F-53E1-4598-9F8A-009E3DEBBFE1}"/>
              </a:ext>
            </a:extLst>
          </p:cNvPr>
          <p:cNvSpPr>
            <a:spLocks xmlns:a="http://schemas.openxmlformats.org/drawingml/2006/main" noGrp="1"/>
          </p:cNvSpPr>
          <p:nvPr/>
        </p:nvSpPr>
        <p:spPr>
          <a:xfrm xmlns:a="http://schemas.openxmlformats.org/drawingml/2006/main">
            <a:off x="685800" y="62293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B554C"/>
                </a:solidFill>
                <a:latin typeface="IBM Plex Sans"/>
                <a:ea typeface="IBM Plex Sans"/>
                <a:cs typeface="IBM Plex Sans"/>
              </a:defRPr>
            </a:pPr>
            <a:r>
              <a:rPr sz="1350" b="0">
                <a:solidFill>
                  <a:srgbClr val="5B554C"/>
                </a:solidFill>
                <a:latin typeface="IBM Plex Sans"/>
                <a:ea typeface="IBM Plex Sans"/>
                <a:cs typeface="IBM Plex Sans"/>
              </a:rPr>
              <a:t>Assumptions: one 400-ticket event; 20% resale rate; 20% price cap; 5% organizer royalty. No observed revenue.</a:t>
            </a:r>
          </a:p>
        </p:txBody>
      </p:sp>
    </p:spTree>
    <p:extLst>
      <p:ext uri="{BB962C8B-B14F-4D97-AF65-F5344CB8AC3E}">
        <p14:creationId xmlns:p14="http://schemas.microsoft.com/office/powerpoint/2010/main" val="1046009355"/>
      </p:ext>
    </p:extLst>
  </p:cSld>
</p:sld>
</file>

<file path=ppt/slides/slide6.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B5C5C7-3B81-4243-8E1A-AAC72302E751}"/>
              </a:ext>
            </a:extLst>
          </p:cNvPr>
          <p:cNvSpPr>
            <a:spLocks xmlns:a="http://schemas.openxmlformats.org/drawingml/2006/main" noGrp="1"/>
          </p:cNvSpPr>
          <p:nvPr/>
        </p:nvSpPr>
        <p:spPr>
          <a:xfrm xmlns:a="http://schemas.openxmlformats.org/drawingml/2006/main">
            <a:off x="685800" y="5334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00" b="1">
                <a:solidFill>
                  <a:srgbClr val="16130F"/>
                </a:solidFill>
                <a:latin typeface="Archivo"/>
                <a:ea typeface="Archivo"/>
                <a:cs typeface="Archivo"/>
              </a:defRPr>
            </a:pPr>
            <a:r>
              <a:rPr sz="3600" b="1">
                <a:solidFill>
                  <a:srgbClr val="16130F"/>
                </a:solidFill>
                <a:latin typeface="Archivo"/>
                <a:ea typeface="Archivo"/>
                <a:cs typeface="Archivo"/>
              </a:rPr>
              <a:t>One club event before a public rollout.</a:t>
            </a:r>
          </a:p>
        </p:txBody>
      </p:sp>
      <p:sp>
        <p:nvSpPr>
          <p:cNvPr id="2" name="">
            <a:extLst xmlns:a="http://schemas.openxmlformats.org/drawingml/2006/main">
              <a:ext uri="{FF2B5EF4-FFF2-40B4-BE49-F238E27FC236}">
                <a16:creationId xmlns:a16="http://schemas.microsoft.com/office/drawing/2014/main" id="{76A086AB-8F3C-440B-B92B-B8B89B37C1F2}"/>
              </a:ext>
            </a:extLst>
          </p:cNvPr>
          <p:cNvSpPr>
            <a:spLocks xmlns:a="http://schemas.openxmlformats.org/drawingml/2006/main" noGrp="1"/>
          </p:cNvSpPr>
          <p:nvPr/>
        </p:nvSpPr>
        <p:spPr>
          <a:xfrm xmlns:a="http://schemas.openxmlformats.org/drawingml/2006/main">
            <a:off x="685800" y="2038350"/>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5B554C"/>
                </a:solidFill>
                <a:latin typeface="IBM Plex Sans"/>
                <a:ea typeface="IBM Plex Sans"/>
                <a:cs typeface="IBM Plex Sans"/>
              </a:defRPr>
            </a:pPr>
            <a:r>
              <a:rPr sz="1800" b="0">
                <a:solidFill>
                  <a:srgbClr val="5B554C"/>
                </a:solidFill>
                <a:latin typeface="IBM Plex Sans"/>
                <a:ea typeface="IBM Plex Sans"/>
                <a:cs typeface="IBM Plex Sans"/>
              </a:rPr>
              <a:t>First pilot to seek</a:t>
            </a:r>
          </a:p>
        </p:txBody>
      </p:sp>
      <p:sp>
        <p:nvSpPr>
          <p:cNvPr id="3" name="">
            <a:extLst xmlns:a="http://schemas.openxmlformats.org/drawingml/2006/main">
              <a:ext uri="{FF2B5EF4-FFF2-40B4-BE49-F238E27FC236}">
                <a16:creationId xmlns:a16="http://schemas.microsoft.com/office/drawing/2014/main" id="{A4AF9CAC-29EB-49B2-80AF-62822A6F0931}"/>
              </a:ext>
            </a:extLst>
          </p:cNvPr>
          <p:cNvSpPr>
            <a:spLocks xmlns:a="http://schemas.openxmlformats.org/drawingml/2006/main" noGrp="1"/>
          </p:cNvSpPr>
          <p:nvPr/>
        </p:nvSpPr>
        <p:spPr>
          <a:xfrm xmlns:a="http://schemas.openxmlformats.org/drawingml/2006/main">
            <a:off x="685800" y="2628900"/>
            <a:ext cx="51816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550" b="1">
                <a:solidFill>
                  <a:srgbClr val="16130F"/>
                </a:solidFill>
                <a:latin typeface="Archivo"/>
                <a:ea typeface="Archivo"/>
                <a:cs typeface="Archivo"/>
              </a:defRPr>
            </a:pPr>
            <a:r>
              <a:rPr sz="2550" b="1">
                <a:solidFill>
                  <a:srgbClr val="16130F"/>
                </a:solidFill>
                <a:latin typeface="Archivo"/>
                <a:ea typeface="Archivo"/>
                <a:cs typeface="Archivo"/>
              </a:rPr>
              <a:t>A WHU student club with</a:t>
            </a:r>
          </a:p>
          <a:p xmlns:a="http://schemas.openxmlformats.org/drawingml/2006/main">
            <a:pPr>
              <a:defRPr sz="2550" b="1">
                <a:solidFill>
                  <a:srgbClr val="16130F"/>
                </a:solidFill>
                <a:latin typeface="Archivo"/>
                <a:ea typeface="Archivo"/>
                <a:cs typeface="Archivo"/>
              </a:defRPr>
            </a:pPr>
            <a:r>
              <a:rPr sz="2550" b="1">
                <a:solidFill>
                  <a:srgbClr val="16130F"/>
                </a:solidFill>
                <a:latin typeface="Archivo"/>
                <a:ea typeface="Archivo"/>
                <a:cs typeface="Archivo"/>
              </a:rPr>
              <a:t>a general-admission event.</a:t>
            </a:r>
          </a:p>
        </p:txBody>
      </p:sp>
      <p:sp>
        <p:nvSpPr>
          <p:cNvPr id="4" name="">
            <a:extLst xmlns:a="http://schemas.openxmlformats.org/drawingml/2006/main">
              <a:ext uri="{FF2B5EF4-FFF2-40B4-BE49-F238E27FC236}">
                <a16:creationId xmlns:a16="http://schemas.microsoft.com/office/drawing/2014/main" id="{2DF28145-1EF8-4D8B-9305-A2CE1F79E960}"/>
              </a:ext>
            </a:extLst>
          </p:cNvPr>
          <p:cNvSpPr>
            <a:spLocks xmlns:a="http://schemas.openxmlformats.org/drawingml/2006/main" noGrp="1"/>
          </p:cNvSpPr>
          <p:nvPr/>
        </p:nvSpPr>
        <p:spPr>
          <a:xfrm xmlns:a="http://schemas.openxmlformats.org/drawingml/2006/main">
            <a:off x="685800" y="4152900"/>
            <a:ext cx="55626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Use one event to check whether fans</a:t>
            </a:r>
          </a:p>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complete a resale and organizers find</a:t>
            </a:r>
          </a:p>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the cap and royalty worth adopting.</a:t>
            </a:r>
          </a:p>
        </p:txBody>
      </p:sp>
      <p:sp>
        <p:nvSpPr>
          <p:cNvPr id="5" name="">
            <a:extLst xmlns:a="http://schemas.openxmlformats.org/drawingml/2006/main">
              <a:ext uri="{FF2B5EF4-FFF2-40B4-BE49-F238E27FC236}">
                <a16:creationId xmlns:a16="http://schemas.microsoft.com/office/drawing/2014/main" id="{04CCBEC9-8F23-4815-AFC1-8D532987E89D}"/>
              </a:ext>
            </a:extLst>
          </p:cNvPr>
          <p:cNvSpPr>
            <a:spLocks xmlns:a="http://schemas.openxmlformats.org/drawingml/2006/main" noGrp="1"/>
          </p:cNvSpPr>
          <p:nvPr/>
        </p:nvSpPr>
        <p:spPr>
          <a:xfrm xmlns:a="http://schemas.openxmlformats.org/drawingml/2006/main">
            <a:off x="7239000" y="2038350"/>
            <a:ext cx="426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5B554C"/>
                </a:solidFill>
                <a:latin typeface="IBM Plex Sans"/>
                <a:ea typeface="IBM Plex Sans"/>
                <a:cs typeface="IBM Plex Sans"/>
              </a:defRPr>
            </a:pPr>
            <a:r>
              <a:rPr sz="1800" b="0">
                <a:solidFill>
                  <a:srgbClr val="5B554C"/>
                </a:solidFill>
                <a:latin typeface="IBM Plex Sans"/>
                <a:ea typeface="IBM Plex Sans"/>
                <a:cs typeface="IBM Plex Sans"/>
              </a:rPr>
              <a:t>Questions for the organizer</a:t>
            </a:r>
          </a:p>
        </p:txBody>
      </p:sp>
      <p:sp>
        <p:nvSpPr>
          <p:cNvPr id="6" name="">
            <a:extLst xmlns:a="http://schemas.openxmlformats.org/drawingml/2006/main">
              <a:ext uri="{FF2B5EF4-FFF2-40B4-BE49-F238E27FC236}">
                <a16:creationId xmlns:a16="http://schemas.microsoft.com/office/drawing/2014/main" id="{D6FB1D4A-1671-429C-B0EE-5715683A34D3}"/>
              </a:ext>
            </a:extLst>
          </p:cNvPr>
          <p:cNvSpPr>
            <a:spLocks xmlns:a="http://schemas.openxmlformats.org/drawingml/2006/main" noGrp="1"/>
          </p:cNvSpPr>
          <p:nvPr/>
        </p:nvSpPr>
        <p:spPr>
          <a:xfrm xmlns:a="http://schemas.openxmlformats.org/drawingml/2006/main">
            <a:off x="7239000" y="2628900"/>
            <a:ext cx="42672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How do you handle resales today?</a:t>
            </a:r>
          </a:p>
          <a:p xmlns:a="http://schemas.openxmlformats.org/drawingml/2006/main">
            <a:r>
              <a:t/>
            </a:r>
          </a:p>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Which price cap would you set?</a:t>
            </a:r>
          </a:p>
          <a:p xmlns:a="http://schemas.openxmlformats.org/drawingml/2006/main">
            <a:r>
              <a:t/>
            </a:r>
          </a:p>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What must work at the door</a:t>
            </a:r>
          </a:p>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before you use this?</a:t>
            </a:r>
          </a:p>
        </p:txBody>
      </p:sp>
      <p:sp>
        <p:nvSpPr>
          <p:cNvPr id="7" name="">
            <a:extLst xmlns:a="http://schemas.openxmlformats.org/drawingml/2006/main">
              <a:ext uri="{FF2B5EF4-FFF2-40B4-BE49-F238E27FC236}">
                <a16:creationId xmlns:a16="http://schemas.microsoft.com/office/drawing/2014/main" id="{5B28921A-13CF-4FDE-AD37-43DC61C1E4F4}"/>
              </a:ext>
            </a:extLst>
          </p:cNvPr>
          <p:cNvSpPr>
            <a:spLocks xmlns:a="http://schemas.openxmlformats.org/drawingml/2006/main" noGrp="1"/>
          </p:cNvSpPr>
          <p:nvPr/>
        </p:nvSpPr>
        <p:spPr>
          <a:xfrm xmlns:a="http://schemas.openxmlformats.org/drawingml/2006/main">
            <a:off x="685800" y="62293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B554C"/>
                </a:solidFill>
                <a:latin typeface="IBM Plex Sans"/>
                <a:ea typeface="IBM Plex Sans"/>
                <a:cs typeface="IBM Plex Sans"/>
              </a:defRPr>
            </a:pPr>
            <a:r>
              <a:rPr sz="1350" b="0">
                <a:solidFill>
                  <a:srgbClr val="5B554C"/>
                </a:solidFill>
                <a:latin typeface="IBM Plex Sans"/>
                <a:ea typeface="IBM Plex Sans"/>
                <a:cs typeface="IBM Plex Sans"/>
              </a:rPr>
              <a:t>No organizer quote, interview or commitment is claimed yet.</a:t>
            </a:r>
          </a:p>
        </p:txBody>
      </p:sp>
    </p:spTree>
    <p:extLst>
      <p:ext uri="{BB962C8B-B14F-4D97-AF65-F5344CB8AC3E}">
        <p14:creationId xmlns:p14="http://schemas.microsoft.com/office/powerpoint/2010/main" val="1271848065"/>
      </p:ext>
    </p:extLst>
  </p:cSld>
</p:sld>
</file>

<file path=ppt/slides/slide7.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ACB937-B7A8-4827-B231-7594D1BD0C69}"/>
              </a:ext>
            </a:extLst>
          </p:cNvPr>
          <p:cNvSpPr>
            <a:spLocks xmlns:a="http://schemas.openxmlformats.org/drawingml/2006/main" noGrp="1"/>
          </p:cNvSpPr>
          <p:nvPr/>
        </p:nvSpPr>
        <p:spPr>
          <a:xfrm xmlns:a="http://schemas.openxmlformats.org/drawingml/2006/main">
            <a:off x="685800" y="5334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00" b="1">
                <a:solidFill>
                  <a:srgbClr val="16130F"/>
                </a:solidFill>
                <a:latin typeface="Archivo"/>
                <a:ea typeface="Archivo"/>
                <a:cs typeface="Archivo"/>
              </a:defRPr>
            </a:pPr>
            <a:r>
              <a:rPr sz="3600" b="1">
                <a:solidFill>
                  <a:srgbClr val="16130F"/>
                </a:solidFill>
                <a:latin typeface="Archivo"/>
                <a:ea typeface="Archivo"/>
                <a:cs typeface="Archivo"/>
              </a:rPr>
              <a:t>Next: use it at an actual door.</a:t>
            </a:r>
          </a:p>
        </p:txBody>
      </p:sp>
      <p:sp>
        <p:nvSpPr>
          <p:cNvPr id="2" name="">
            <a:extLst xmlns:a="http://schemas.openxmlformats.org/drawingml/2006/main">
              <a:ext uri="{FF2B5EF4-FFF2-40B4-BE49-F238E27FC236}">
                <a16:creationId xmlns:a16="http://schemas.microsoft.com/office/drawing/2014/main" id="{0281AD63-EC98-46A1-983F-80F5F517FE7E}"/>
              </a:ext>
            </a:extLst>
          </p:cNvPr>
          <p:cNvSpPr>
            <a:spLocks xmlns:a="http://schemas.openxmlformats.org/drawingml/2006/main" noGrp="1"/>
          </p:cNvSpPr>
          <p:nvPr/>
        </p:nvSpPr>
        <p:spPr>
          <a:xfrm xmlns:a="http://schemas.openxmlformats.org/drawingml/2006/main">
            <a:off x="685800" y="2076450"/>
            <a:ext cx="502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5B554C"/>
                </a:solidFill>
                <a:latin typeface="IBM Plex Sans"/>
                <a:ea typeface="IBM Plex Sans"/>
                <a:cs typeface="IBM Plex Sans"/>
              </a:defRPr>
            </a:pPr>
            <a:r>
              <a:rPr sz="1800" b="0">
                <a:solidFill>
                  <a:srgbClr val="5B554C"/>
                </a:solidFill>
                <a:latin typeface="IBM Plex Sans"/>
                <a:ea typeface="IBM Plex Sans"/>
                <a:cs typeface="IBM Plex Sans"/>
              </a:rPr>
              <a:t>Working now</a:t>
            </a:r>
          </a:p>
        </p:txBody>
      </p:sp>
      <p:sp>
        <p:nvSpPr>
          <p:cNvPr id="3" name="">
            <a:extLst xmlns:a="http://schemas.openxmlformats.org/drawingml/2006/main">
              <a:ext uri="{FF2B5EF4-FFF2-40B4-BE49-F238E27FC236}">
                <a16:creationId xmlns:a16="http://schemas.microsoft.com/office/drawing/2014/main" id="{DFD20ECE-79EA-4999-B0A6-75B037EFBD74}"/>
              </a:ext>
            </a:extLst>
          </p:cNvPr>
          <p:cNvSpPr>
            <a:spLocks xmlns:a="http://schemas.openxmlformats.org/drawingml/2006/main" noGrp="1"/>
          </p:cNvSpPr>
          <p:nvPr/>
        </p:nvSpPr>
        <p:spPr>
          <a:xfrm xmlns:a="http://schemas.openxmlformats.org/drawingml/2006/main">
            <a:off x="685800" y="2686050"/>
            <a:ext cx="51816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250" b="0">
                <a:solidFill>
                  <a:srgbClr val="16130F"/>
                </a:solidFill>
                <a:latin typeface="IBM Plex Sans"/>
                <a:ea typeface="IBM Plex Sans"/>
                <a:cs typeface="IBM Plex Sans"/>
              </a:defRPr>
            </a:pPr>
            <a:r>
              <a:rPr sz="2250" b="0">
                <a:solidFill>
                  <a:srgbClr val="16130F"/>
                </a:solidFill>
                <a:latin typeface="IBM Plex Sans"/>
                <a:ea typeface="IBM Plex Sans"/>
                <a:cs typeface="IBM Plex Sans"/>
              </a:rPr>
              <a:t>Marketplace and transfer hook.</a:t>
            </a:r>
          </a:p>
          <a:p xmlns:a="http://schemas.openxmlformats.org/drawingml/2006/main">
            <a:pPr>
              <a:defRPr sz="2250" b="0">
                <a:solidFill>
                  <a:srgbClr val="16130F"/>
                </a:solidFill>
                <a:latin typeface="IBM Plex Sans"/>
                <a:ea typeface="IBM Plex Sans"/>
                <a:cs typeface="IBM Plex Sans"/>
              </a:defRPr>
            </a:pPr>
            <a:r>
              <a:rPr sz="2250" b="0">
                <a:solidFill>
                  <a:srgbClr val="16130F"/>
                </a:solidFill>
                <a:latin typeface="IBM Plex Sans"/>
                <a:ea typeface="IBM Plex Sans"/>
                <a:cs typeface="IBM Plex Sans"/>
              </a:rPr>
              <a:t>Four product screens.</a:t>
            </a:r>
          </a:p>
          <a:p xmlns:a="http://schemas.openxmlformats.org/drawingml/2006/main">
            <a:pPr>
              <a:defRPr sz="2250" b="0">
                <a:solidFill>
                  <a:srgbClr val="16130F"/>
                </a:solidFill>
                <a:latin typeface="IBM Plex Sans"/>
                <a:ea typeface="IBM Plex Sans"/>
                <a:cs typeface="IBM Plex Sans"/>
              </a:defRPr>
            </a:pPr>
            <a:r>
              <a:rPr sz="2250" b="0">
                <a:solidFill>
                  <a:srgbClr val="16130F"/>
                </a:solidFill>
                <a:latin typeface="IBM Plex Sans"/>
                <a:ea typeface="IBM Plex Sans"/>
                <a:cs typeface="IBM Plex Sans"/>
              </a:rPr>
              <a:t>Sponsored test transactions.</a:t>
            </a:r>
          </a:p>
          <a:p xmlns:a="http://schemas.openxmlformats.org/drawingml/2006/main">
            <a:pPr>
              <a:defRPr sz="2250" b="0">
                <a:solidFill>
                  <a:srgbClr val="16130F"/>
                </a:solidFill>
                <a:latin typeface="IBM Plex Sans"/>
                <a:ea typeface="IBM Plex Sans"/>
                <a:cs typeface="IBM Plex Sans"/>
              </a:defRPr>
            </a:pPr>
            <a:r>
              <a:rPr sz="2250" b="0">
                <a:solidFill>
                  <a:srgbClr val="16130F"/>
                </a:solidFill>
                <a:latin typeface="IBM Plex Sans"/>
                <a:ea typeface="IBM Plex Sans"/>
                <a:cs typeface="IBM Plex Sans"/>
              </a:rPr>
              <a:t>13 devnet chain checks.</a:t>
            </a:r>
          </a:p>
        </p:txBody>
      </p:sp>
      <p:sp>
        <p:nvSpPr>
          <p:cNvPr id="4" name="">
            <a:extLst xmlns:a="http://schemas.openxmlformats.org/drawingml/2006/main">
              <a:ext uri="{FF2B5EF4-FFF2-40B4-BE49-F238E27FC236}">
                <a16:creationId xmlns:a16="http://schemas.microsoft.com/office/drawing/2014/main" id="{937055C6-31DC-4E29-8042-9F2FDA45B025}"/>
              </a:ext>
            </a:extLst>
          </p:cNvPr>
          <p:cNvSpPr>
            <a:spLocks xmlns:a="http://schemas.openxmlformats.org/drawingml/2006/main" noGrp="1"/>
          </p:cNvSpPr>
          <p:nvPr/>
        </p:nvSpPr>
        <p:spPr>
          <a:xfrm xmlns:a="http://schemas.openxmlformats.org/drawingml/2006/main">
            <a:off x="7239000" y="2076450"/>
            <a:ext cx="426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5B554C"/>
                </a:solidFill>
                <a:latin typeface="IBM Plex Sans"/>
                <a:ea typeface="IBM Plex Sans"/>
                <a:cs typeface="IBM Plex Sans"/>
              </a:defRPr>
            </a:pPr>
            <a:r>
              <a:rPr sz="1800" b="0">
                <a:solidFill>
                  <a:srgbClr val="5B554C"/>
                </a:solidFill>
                <a:latin typeface="IBM Plex Sans"/>
                <a:ea typeface="IBM Plex Sans"/>
                <a:cs typeface="IBM Plex Sans"/>
              </a:rPr>
              <a:t>Before a real pilot</a:t>
            </a:r>
          </a:p>
        </p:txBody>
      </p:sp>
      <p:sp>
        <p:nvSpPr>
          <p:cNvPr id="5" name="">
            <a:extLst xmlns:a="http://schemas.openxmlformats.org/drawingml/2006/main">
              <a:ext uri="{FF2B5EF4-FFF2-40B4-BE49-F238E27FC236}">
                <a16:creationId xmlns:a16="http://schemas.microsoft.com/office/drawing/2014/main" id="{1F9915AA-116B-449F-B02F-01E577273743}"/>
              </a:ext>
            </a:extLst>
          </p:cNvPr>
          <p:cNvSpPr>
            <a:spLocks xmlns:a="http://schemas.openxmlformats.org/drawingml/2006/main" noGrp="1"/>
          </p:cNvSpPr>
          <p:nvPr/>
        </p:nvSpPr>
        <p:spPr>
          <a:xfrm xmlns:a="http://schemas.openxmlformats.org/drawingml/2006/main">
            <a:off x="7239000" y="2686050"/>
            <a:ext cx="42672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16130F"/>
                </a:solidFill>
                <a:latin typeface="IBM Plex Sans"/>
                <a:ea typeface="IBM Plex Sans"/>
                <a:cs typeface="IBM Plex Sans"/>
              </a:defRPr>
            </a:pPr>
            <a:r>
              <a:rPr sz="2025" b="0">
                <a:solidFill>
                  <a:srgbClr val="16130F"/>
                </a:solidFill>
                <a:latin typeface="IBM Plex Sans"/>
                <a:ea typeface="IBM Plex Sans"/>
                <a:cs typeface="IBM Plex Sans"/>
              </a:rPr>
              <a:t>Door check-in and refunds.</a:t>
            </a:r>
          </a:p>
          <a:p xmlns:a="http://schemas.openxmlformats.org/drawingml/2006/main">
            <a:pPr>
              <a:defRPr sz="2025" b="0">
                <a:solidFill>
                  <a:srgbClr val="16130F"/>
                </a:solidFill>
                <a:latin typeface="IBM Plex Sans"/>
                <a:ea typeface="IBM Plex Sans"/>
                <a:cs typeface="IBM Plex Sans"/>
              </a:defRPr>
            </a:pPr>
            <a:r>
              <a:rPr sz="2025" b="0">
                <a:solidFill>
                  <a:srgbClr val="16130F"/>
                </a:solidFill>
                <a:latin typeface="IBM Plex Sans"/>
                <a:ea typeface="IBM Plex Sans"/>
                <a:cs typeface="IBM Plex Sans"/>
              </a:rPr>
              <a:t>Euro payments and identity checks.</a:t>
            </a:r>
          </a:p>
          <a:p xmlns:a="http://schemas.openxmlformats.org/drawingml/2006/main">
            <a:pPr>
              <a:defRPr sz="2025" b="0">
                <a:solidFill>
                  <a:srgbClr val="16130F"/>
                </a:solidFill>
                <a:latin typeface="IBM Plex Sans"/>
                <a:ea typeface="IBM Plex Sans"/>
                <a:cs typeface="IBM Plex Sans"/>
              </a:defRPr>
            </a:pPr>
            <a:r>
              <a:rPr sz="2025" b="0">
                <a:solidFill>
                  <a:srgbClr val="16130F"/>
                </a:solidFill>
                <a:latin typeface="IBM Plex Sans"/>
                <a:ea typeface="IBM Plex Sans"/>
                <a:cs typeface="IBM Plex Sans"/>
              </a:rPr>
              <a:t>Independent program review.</a:t>
            </a:r>
          </a:p>
          <a:p xmlns:a="http://schemas.openxmlformats.org/drawingml/2006/main">
            <a:pPr>
              <a:defRPr sz="2025" b="0">
                <a:solidFill>
                  <a:srgbClr val="16130F"/>
                </a:solidFill>
                <a:latin typeface="IBM Plex Sans"/>
                <a:ea typeface="IBM Plex Sans"/>
                <a:cs typeface="IBM Plex Sans"/>
              </a:defRPr>
            </a:pPr>
            <a:r>
              <a:rPr sz="2025" b="0">
                <a:solidFill>
                  <a:srgbClr val="16130F"/>
                </a:solidFill>
                <a:latin typeface="IBM Plex Sans"/>
                <a:ea typeface="IBM Plex Sans"/>
                <a:cs typeface="IBM Plex Sans"/>
              </a:rPr>
              <a:t>Then a real organizer trial.</a:t>
            </a:r>
          </a:p>
        </p:txBody>
      </p:sp>
      <p:sp>
        <p:nvSpPr>
          <p:cNvPr id="6" name="">
            <a:extLst xmlns:a="http://schemas.openxmlformats.org/drawingml/2006/main">
              <a:ext uri="{FF2B5EF4-FFF2-40B4-BE49-F238E27FC236}">
                <a16:creationId xmlns:a16="http://schemas.microsoft.com/office/drawing/2014/main" id="{A5F6BAC7-1488-4681-B11C-00E75044D095}"/>
              </a:ext>
            </a:extLst>
          </p:cNvPr>
          <p:cNvSpPr>
            <a:spLocks xmlns:a="http://schemas.openxmlformats.org/drawingml/2006/main" noGrp="1"/>
          </p:cNvSpPr>
          <p:nvPr/>
        </p:nvSpPr>
        <p:spPr>
          <a:xfrm xmlns:a="http://schemas.openxmlformats.org/drawingml/2006/main">
            <a:off x="685800" y="552450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B554C"/>
                </a:solidFill>
                <a:latin typeface="IBM Plex Sans"/>
                <a:ea typeface="IBM Plex Sans"/>
                <a:cs typeface="IBM Plex Sans"/>
              </a:defRPr>
            </a:pPr>
            <a:r>
              <a:rPr sz="1650" b="0">
                <a:solidFill>
                  <a:srgbClr val="5B554C"/>
                </a:solidFill>
                <a:latin typeface="IBM Plex Sans"/>
                <a:ea typeface="IBM Plex Sans"/>
                <a:cs typeface="IBM Plex Sans"/>
              </a:rPr>
              <a:t>Deployed on devnet. Email sign-in and wallet signing confirmed.</a:t>
            </a:r>
          </a:p>
          <a:p xmlns:a="http://schemas.openxmlformats.org/drawingml/2006/main">
            <a:pPr>
              <a:defRPr sz="1650" b="0">
                <a:solidFill>
                  <a:srgbClr val="5B554C"/>
                </a:solidFill>
                <a:latin typeface="IBM Plex Sans"/>
                <a:ea typeface="IBM Plex Sans"/>
                <a:cs typeface="IBM Plex Sans"/>
              </a:defRPr>
            </a:pPr>
            <a:r>
              <a:rPr sz="1650" b="0">
                <a:solidFill>
                  <a:srgbClr val="5B554C"/>
                </a:solidFill>
                <a:latin typeface="IBM Plex Sans"/>
                <a:ea typeface="IBM Plex Sans"/>
                <a:cs typeface="IBM Plex Sans"/>
              </a:rPr>
              <a:t>Cash side deals remain possible; development upgrade authority is retained.</a:t>
            </a:r>
          </a:p>
        </p:txBody>
      </p:sp>
    </p:spTree>
    <p:extLst>
      <p:ext uri="{BB962C8B-B14F-4D97-AF65-F5344CB8AC3E}">
        <p14:creationId xmlns:p14="http://schemas.microsoft.com/office/powerpoint/2010/main" val="9780632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2026-10-02T07:43:32.8290000Z</dcterms:created>
  <dcterms:modified xsi:type="dcterms:W3CDTF">2026-10-02T07:43:32.8290000Z</dcterms:modified>
</coreProperties>
</file>